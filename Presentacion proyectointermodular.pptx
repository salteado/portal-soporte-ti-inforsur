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52260" y="-1714500"/>
            <a:ext cx="4800600" cy="4800600"/>
          </a:xfrm>
          <a:custGeom>
            <a:avLst/>
            <a:gdLst/>
            <a:ahLst/>
            <a:cxnLst/>
            <a:rect l="l" t="t" r="r" b="b"/>
            <a:pathLst>
              <a:path w="4800600" h="4800600">
                <a:moveTo>
                  <a:pt x="2400300" y="0"/>
                </a:moveTo>
                <a:cubicBezTo>
                  <a:pt x="3725062" y="0"/>
                  <a:pt x="4800600" y="1075538"/>
                  <a:pt x="4800600" y="2400300"/>
                </a:cubicBezTo>
                <a:cubicBezTo>
                  <a:pt x="4800600" y="3725062"/>
                  <a:pt x="3725062" y="4800600"/>
                  <a:pt x="2400300" y="4800600"/>
                </a:cubicBezTo>
                <a:cubicBezTo>
                  <a:pt x="1075538" y="4800600"/>
                  <a:pt x="0" y="3725062"/>
                  <a:pt x="0" y="2400300"/>
                </a:cubicBezTo>
                <a:cubicBezTo>
                  <a:pt x="0" y="1075538"/>
                  <a:pt x="1075538" y="0"/>
                  <a:pt x="2400300" y="0"/>
                </a:cubicBezTo>
                <a:close/>
              </a:path>
            </a:pathLst>
          </a:custGeom>
          <a:solidFill>
            <a:srgbClr val="12243F"/>
          </a:solidFill>
          <a:ln/>
        </p:spPr>
      </p:sp>
      <p:sp>
        <p:nvSpPr>
          <p:cNvPr id="3" name="Text 1"/>
          <p:cNvSpPr/>
          <p:nvPr/>
        </p:nvSpPr>
        <p:spPr>
          <a:xfrm>
            <a:off x="6652260" y="-1714500"/>
            <a:ext cx="480060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-2057400" y="288036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2057400" y="0"/>
                </a:moveTo>
                <a:cubicBezTo>
                  <a:pt x="3192910" y="0"/>
                  <a:pt x="4114800" y="921890"/>
                  <a:pt x="4114800" y="2057400"/>
                </a:cubicBezTo>
                <a:cubicBezTo>
                  <a:pt x="4114800" y="3192910"/>
                  <a:pt x="3192910" y="4114800"/>
                  <a:pt x="2057400" y="4114800"/>
                </a:cubicBezTo>
                <a:cubicBezTo>
                  <a:pt x="921890" y="4114800"/>
                  <a:pt x="0" y="3192910"/>
                  <a:pt x="0" y="2057400"/>
                </a:cubicBezTo>
                <a:cubicBezTo>
                  <a:pt x="0" y="921890"/>
                  <a:pt x="921890" y="0"/>
                  <a:pt x="2057400" y="0"/>
                </a:cubicBezTo>
                <a:close/>
              </a:path>
            </a:pathLst>
          </a:custGeom>
          <a:solidFill>
            <a:srgbClr val="12243F"/>
          </a:solidFill>
          <a:ln/>
        </p:spPr>
      </p:sp>
      <p:sp>
        <p:nvSpPr>
          <p:cNvPr id="5" name="Text 3"/>
          <p:cNvSpPr/>
          <p:nvPr/>
        </p:nvSpPr>
        <p:spPr>
          <a:xfrm>
            <a:off x="-2057400" y="288036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" y="480060"/>
            <a:ext cx="377190" cy="3771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" y="1028700"/>
            <a:ext cx="6172200" cy="274320"/>
          </a:xfrm>
          <a:custGeom>
            <a:avLst/>
            <a:gdLst/>
            <a:ahLst/>
            <a:cxnLst/>
            <a:rect l="l" t="t" r="r" b="b"/>
            <a:pathLst>
              <a:path w="6172200" h="274320">
                <a:moveTo>
                  <a:pt x="0" y="0"/>
                </a:moveTo>
                <a:lnTo>
                  <a:pt x="6172200" y="0"/>
                </a:lnTo>
                <a:lnTo>
                  <a:pt x="617220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80060" y="1028700"/>
            <a:ext cx="6172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1013" b="1" dirty="0">
                <a:solidFill>
                  <a:srgbClr val="5F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INTERMODULAR · 2º SMR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45770" y="1337310"/>
            <a:ext cx="7886700" cy="891540"/>
          </a:xfrm>
          <a:custGeom>
            <a:avLst/>
            <a:gdLst/>
            <a:ahLst/>
            <a:cxnLst/>
            <a:rect l="l" t="t" r="r" b="b"/>
            <a:pathLst>
              <a:path w="7886700" h="891540">
                <a:moveTo>
                  <a:pt x="0" y="0"/>
                </a:moveTo>
                <a:lnTo>
                  <a:pt x="7886700" y="0"/>
                </a:lnTo>
                <a:lnTo>
                  <a:pt x="7886700" y="891540"/>
                </a:lnTo>
                <a:lnTo>
                  <a:pt x="0" y="89154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45770" y="1337310"/>
            <a:ext cx="7886700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326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interno de soporte TI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80060" y="2160270"/>
            <a:ext cx="6515100" cy="617220"/>
          </a:xfrm>
          <a:custGeom>
            <a:avLst/>
            <a:gdLst/>
            <a:ahLst/>
            <a:cxnLst/>
            <a:rect l="l" t="t" r="r" b="b"/>
            <a:pathLst>
              <a:path w="6515100" h="617220">
                <a:moveTo>
                  <a:pt x="0" y="0"/>
                </a:moveTo>
                <a:lnTo>
                  <a:pt x="6515100" y="0"/>
                </a:lnTo>
                <a:lnTo>
                  <a:pt x="6515100" y="617220"/>
                </a:lnTo>
                <a:lnTo>
                  <a:pt x="0" y="6172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80060" y="2160270"/>
            <a:ext cx="65151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118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Diseño, implementación y seguridad de una infraestructura</a:t>
            </a:r>
            <a:endParaRPr lang="en-US" sz="900" dirty="0"/>
          </a:p>
          <a:p>
            <a:pPr algn="l" indent="0" marL="0">
              <a:spcBef>
                <a:spcPts val="281"/>
              </a:spcBef>
              <a:buNone/>
            </a:pPr>
            <a:r>
              <a:rPr lang="en-US" sz="118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para centralizar soporte técnico en InforSur Málaga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0060" y="2983230"/>
            <a:ext cx="2057400" cy="0"/>
          </a:xfrm>
          <a:custGeom>
            <a:avLst/>
            <a:gdLst/>
            <a:ahLst/>
            <a:cxnLst/>
            <a:rect l="l" t="t" r="r" b="b"/>
            <a:pathLst>
              <a:path w="2057400" h="0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/>
          <a:ln w="19074">
            <a:solidFill>
              <a:srgbClr val="1C7293"/>
            </a:solidFill>
            <a:prstDash val="solid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480060" y="3154680"/>
            <a:ext cx="4114800" cy="240030"/>
          </a:xfrm>
          <a:custGeom>
            <a:avLst/>
            <a:gdLst/>
            <a:ahLst/>
            <a:cxnLst/>
            <a:rect l="l" t="t" r="r" b="b"/>
            <a:pathLst>
              <a:path w="4114800" h="240030">
                <a:moveTo>
                  <a:pt x="0" y="0"/>
                </a:moveTo>
                <a:lnTo>
                  <a:pt x="4114800" y="0"/>
                </a:lnTo>
                <a:lnTo>
                  <a:pt x="4114800" y="240030"/>
                </a:lnTo>
                <a:lnTo>
                  <a:pt x="0" y="2400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80060" y="3154680"/>
            <a:ext cx="41148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56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</a:t>
            </a:r>
            <a:pPr algn="l" indent="0" marL="0">
              <a:spcBef>
                <a:spcPts val="281"/>
              </a:spcBef>
              <a:buNone/>
            </a:pPr>
            <a:r>
              <a:rPr lang="en-US" sz="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Chima Ogbajie Iheke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0060" y="3394710"/>
            <a:ext cx="4800600" cy="240030"/>
          </a:xfrm>
          <a:custGeom>
            <a:avLst/>
            <a:gdLst/>
            <a:ahLst/>
            <a:cxnLst/>
            <a:rect l="l" t="t" r="r" b="b"/>
            <a:pathLst>
              <a:path w="4800600" h="240030">
                <a:moveTo>
                  <a:pt x="0" y="0"/>
                </a:moveTo>
                <a:lnTo>
                  <a:pt x="4800600" y="0"/>
                </a:lnTo>
                <a:lnTo>
                  <a:pt x="4800600" y="240030"/>
                </a:lnTo>
                <a:lnTo>
                  <a:pt x="0" y="2400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" y="3394710"/>
            <a:ext cx="48006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56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Módulo:</a:t>
            </a:r>
            <a:pPr algn="l" indent="0" marL="0">
              <a:spcBef>
                <a:spcPts val="281"/>
              </a:spcBef>
              <a:buNone/>
            </a:pPr>
            <a:r>
              <a:rPr lang="en-US" sz="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Intermodular - 2ª Evaluación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8610"/>
            <a:ext cx="7543800" cy="480060"/>
          </a:xfrm>
          <a:custGeom>
            <a:avLst/>
            <a:gdLst/>
            <a:ahLst/>
            <a:cxnLst/>
            <a:rect l="l" t="t" r="r" b="b"/>
            <a:pathLst>
              <a:path w="7543800" h="480060">
                <a:moveTo>
                  <a:pt x="0" y="0"/>
                </a:moveTo>
                <a:lnTo>
                  <a:pt x="7543800" y="0"/>
                </a:lnTo>
                <a:lnTo>
                  <a:pt x="7543800" y="480060"/>
                </a:lnTo>
                <a:lnTo>
                  <a:pt x="0" y="4800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08610"/>
            <a:ext cx="7543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22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necesidad del cliente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925830"/>
            <a:ext cx="3909060" cy="2743200"/>
          </a:xfrm>
          <a:custGeom>
            <a:avLst/>
            <a:gdLst/>
            <a:ahLst/>
            <a:cxnLst/>
            <a:rect l="l" t="t" r="r" b="b"/>
            <a:pathLst>
              <a:path w="3909060" h="2743200">
                <a:moveTo>
                  <a:pt x="342900" y="0"/>
                </a:moveTo>
                <a:lnTo>
                  <a:pt x="3566160" y="0"/>
                </a:lnTo>
                <a:quadBezTo>
                  <a:pt x="3909060" y="0"/>
                  <a:pt x="3909060" y="342900"/>
                </a:quadBezTo>
                <a:lnTo>
                  <a:pt x="3909060" y="2400300"/>
                </a:lnTo>
                <a:quadBezTo>
                  <a:pt x="3909060" y="2743200"/>
                  <a:pt x="3566160" y="2743200"/>
                </a:quadBezTo>
                <a:lnTo>
                  <a:pt x="342900" y="2743200"/>
                </a:lnTo>
                <a:quadBezTo>
                  <a:pt x="0" y="2743200"/>
                  <a:pt x="0" y="2400300"/>
                </a:quadBezTo>
                <a:lnTo>
                  <a:pt x="0" y="342900"/>
                </a:lnTo>
                <a:quadBezTo>
                  <a:pt x="0" y="0"/>
                  <a:pt x="34290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27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25830"/>
            <a:ext cx="39090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1131570"/>
            <a:ext cx="342900" cy="3429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1131570"/>
            <a:ext cx="3017520" cy="342900"/>
          </a:xfrm>
          <a:custGeom>
            <a:avLst/>
            <a:gdLst/>
            <a:ahLst/>
            <a:cxnLst/>
            <a:rect l="l" t="t" r="r" b="b"/>
            <a:pathLst>
              <a:path w="3017520" h="342900">
                <a:moveTo>
                  <a:pt x="0" y="0"/>
                </a:moveTo>
                <a:lnTo>
                  <a:pt x="3017520" y="0"/>
                </a:lnTo>
                <a:lnTo>
                  <a:pt x="301752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131570"/>
            <a:ext cx="3017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13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InforSur Málaga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51510" y="1577340"/>
            <a:ext cx="3429000" cy="1988820"/>
          </a:xfrm>
          <a:custGeom>
            <a:avLst/>
            <a:gdLst/>
            <a:ahLst/>
            <a:cxnLst/>
            <a:rect l="l" t="t" r="r" b="b"/>
            <a:pathLst>
              <a:path w="3429000" h="1988820">
                <a:moveTo>
                  <a:pt x="0" y="0"/>
                </a:moveTo>
                <a:lnTo>
                  <a:pt x="3429000" y="0"/>
                </a:lnTo>
                <a:lnTo>
                  <a:pt x="3429000" y="1988820"/>
                </a:lnTo>
                <a:lnTo>
                  <a:pt x="0" y="19888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51510" y="1577340"/>
            <a:ext cx="3429000" cy="1988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160734" indent="-160734">
              <a:spcBef>
                <a:spcPts val="10"/>
              </a:spcBef>
              <a:buSzPct val="100000"/>
              <a:buChar char="•"/>
            </a:pPr>
            <a:r>
              <a:rPr lang="en-US" sz="1013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Pequeña organización (≈10 puestos) sin un sistema centralizado de soporte técnico.</a:t>
            </a:r>
            <a:endParaRPr lang="en-US" sz="900" dirty="0"/>
          </a:p>
          <a:p>
            <a:pPr algn="l" marL="160734" indent="-160734">
              <a:spcBef>
                <a:spcPts val="10"/>
              </a:spcBef>
              <a:buSzPct val="100000"/>
              <a:buChar char="•"/>
            </a:pPr>
            <a:r>
              <a:rPr lang="en-US" sz="1013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incidencias se gestionan de forma informal, sin registro ni trazabilidad.</a:t>
            </a:r>
            <a:endParaRPr lang="en-US" sz="900" dirty="0"/>
          </a:p>
          <a:p>
            <a:pPr algn="l" marL="160734" indent="-160734">
              <a:spcBef>
                <a:spcPts val="10"/>
              </a:spcBef>
              <a:buSzPct val="100000"/>
              <a:buChar char="•"/>
            </a:pPr>
            <a:r>
              <a:rPr lang="en-US" sz="1013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normas claras de uso seguro de los equipos.</a:t>
            </a:r>
            <a:endParaRPr lang="en-US" sz="900" dirty="0"/>
          </a:p>
          <a:p>
            <a:pPr algn="l" marL="160734" indent="-160734">
              <a:spcBef>
                <a:spcPts val="10"/>
              </a:spcBef>
              <a:buSzPct val="100000"/>
              <a:buChar char="•"/>
            </a:pPr>
            <a:r>
              <a:rPr lang="en-US" sz="1013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un espacio común de documentación técnica accesible para todos.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26280" y="925830"/>
            <a:ext cx="3977640" cy="2743200"/>
          </a:xfrm>
          <a:custGeom>
            <a:avLst/>
            <a:gdLst/>
            <a:ahLst/>
            <a:cxnLst/>
            <a:rect l="l" t="t" r="r" b="b"/>
            <a:pathLst>
              <a:path w="3977640" h="2743200">
                <a:moveTo>
                  <a:pt x="342900" y="0"/>
                </a:moveTo>
                <a:lnTo>
                  <a:pt x="3634740" y="0"/>
                </a:lnTo>
                <a:quadBezTo>
                  <a:pt x="3977640" y="0"/>
                  <a:pt x="3977640" y="342900"/>
                </a:quadBezTo>
                <a:lnTo>
                  <a:pt x="3977640" y="2400300"/>
                </a:lnTo>
                <a:quadBezTo>
                  <a:pt x="3977640" y="2743200"/>
                  <a:pt x="3634740" y="2743200"/>
                </a:quadBezTo>
                <a:lnTo>
                  <a:pt x="342900" y="2743200"/>
                </a:lnTo>
                <a:quadBezTo>
                  <a:pt x="0" y="2743200"/>
                  <a:pt x="0" y="2400300"/>
                </a:quadBezTo>
                <a:lnTo>
                  <a:pt x="0" y="342900"/>
                </a:lnTo>
                <a:quadBezTo>
                  <a:pt x="0" y="0"/>
                  <a:pt x="342900" y="0"/>
                </a:quadBezTo>
                <a:close/>
              </a:path>
            </a:pathLst>
          </a:custGeom>
          <a:solidFill>
            <a:srgbClr val="0F1F38"/>
          </a:solidFill>
          <a:ln/>
        </p:spPr>
      </p:sp>
      <p:sp>
        <p:nvSpPr>
          <p:cNvPr id="12" name="Text 9"/>
          <p:cNvSpPr/>
          <p:nvPr/>
        </p:nvSpPr>
        <p:spPr>
          <a:xfrm>
            <a:off x="4526280" y="925830"/>
            <a:ext cx="3977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00600" y="1131570"/>
            <a:ext cx="3429000" cy="308610"/>
          </a:xfrm>
          <a:custGeom>
            <a:avLst/>
            <a:gdLst/>
            <a:ahLst/>
            <a:cxnLst/>
            <a:rect l="l" t="t" r="r" b="b"/>
            <a:pathLst>
              <a:path w="3429000" h="308610">
                <a:moveTo>
                  <a:pt x="0" y="0"/>
                </a:moveTo>
                <a:lnTo>
                  <a:pt x="3429000" y="0"/>
                </a:lnTo>
                <a:lnTo>
                  <a:pt x="3429000" y="308610"/>
                </a:lnTo>
                <a:lnTo>
                  <a:pt x="0" y="30861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1131570"/>
            <a:ext cx="34290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1181" b="1" dirty="0">
                <a:solidFill>
                  <a:srgbClr val="5FB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Necesidad TIC detectada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43050"/>
            <a:ext cx="192024" cy="19202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074920" y="1501902"/>
            <a:ext cx="3291840" cy="274320"/>
          </a:xfrm>
          <a:custGeom>
            <a:avLst/>
            <a:gdLst/>
            <a:ahLst/>
            <a:cxnLst/>
            <a:rect l="l" t="t" r="r" b="b"/>
            <a:pathLst>
              <a:path w="3291840" h="274320">
                <a:moveTo>
                  <a:pt x="0" y="0"/>
                </a:moveTo>
                <a:lnTo>
                  <a:pt x="3291840" y="0"/>
                </a:lnTo>
                <a:lnTo>
                  <a:pt x="329184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5074920" y="150190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documentación técnica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940814"/>
            <a:ext cx="192024" cy="19202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074920" y="1899666"/>
            <a:ext cx="3291840" cy="274320"/>
          </a:xfrm>
          <a:custGeom>
            <a:avLst/>
            <a:gdLst/>
            <a:ahLst/>
            <a:cxnLst/>
            <a:rect l="l" t="t" r="r" b="b"/>
            <a:pathLst>
              <a:path w="3291840" h="274320">
                <a:moveTo>
                  <a:pt x="0" y="0"/>
                </a:moveTo>
                <a:lnTo>
                  <a:pt x="3291840" y="0"/>
                </a:lnTo>
                <a:lnTo>
                  <a:pt x="329184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5074920" y="189966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claro para abrir incidencias</a:t>
            </a:r>
            <a:endParaRPr lang="en-US" sz="9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38578"/>
            <a:ext cx="192024" cy="19202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074920" y="2297430"/>
            <a:ext cx="3291840" cy="274320"/>
          </a:xfrm>
          <a:custGeom>
            <a:avLst/>
            <a:gdLst/>
            <a:ahLst/>
            <a:cxnLst/>
            <a:rect l="l" t="t" r="r" b="b"/>
            <a:pathLst>
              <a:path w="3291840" h="274320">
                <a:moveTo>
                  <a:pt x="0" y="0"/>
                </a:moveTo>
                <a:lnTo>
                  <a:pt x="3291840" y="0"/>
                </a:lnTo>
                <a:lnTo>
                  <a:pt x="329184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5074920" y="229743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básicas de seguridad para usuarios</a:t>
            </a:r>
            <a:endParaRPr lang="en-US" sz="9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736342"/>
            <a:ext cx="192024" cy="192024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074920" y="2695194"/>
            <a:ext cx="3291840" cy="274320"/>
          </a:xfrm>
          <a:custGeom>
            <a:avLst/>
            <a:gdLst/>
            <a:ahLst/>
            <a:cxnLst/>
            <a:rect l="l" t="t" r="r" b="b"/>
            <a:pathLst>
              <a:path w="3291840" h="274320">
                <a:moveTo>
                  <a:pt x="0" y="0"/>
                </a:moveTo>
                <a:lnTo>
                  <a:pt x="3291840" y="0"/>
                </a:lnTo>
                <a:lnTo>
                  <a:pt x="329184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6" name="Text 19"/>
          <p:cNvSpPr/>
          <p:nvPr/>
        </p:nvSpPr>
        <p:spPr>
          <a:xfrm>
            <a:off x="5074920" y="269519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diferenciada de usuarios y permisos</a:t>
            </a:r>
            <a:endParaRPr lang="en-US" sz="9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134106"/>
            <a:ext cx="192024" cy="19202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5074920" y="3092958"/>
            <a:ext cx="3291840" cy="274320"/>
          </a:xfrm>
          <a:custGeom>
            <a:avLst/>
            <a:gdLst/>
            <a:ahLst/>
            <a:cxnLst/>
            <a:rect l="l" t="t" r="r" b="b"/>
            <a:pathLst>
              <a:path w="3291840" h="274320">
                <a:moveTo>
                  <a:pt x="0" y="0"/>
                </a:moveTo>
                <a:lnTo>
                  <a:pt x="3291840" y="0"/>
                </a:lnTo>
                <a:lnTo>
                  <a:pt x="329184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9" name="Text 21"/>
          <p:cNvSpPr/>
          <p:nvPr/>
        </p:nvSpPr>
        <p:spPr>
          <a:xfrm>
            <a:off x="5074920" y="309295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remoto seguro al servidor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8610"/>
            <a:ext cx="7543800" cy="480060"/>
          </a:xfrm>
          <a:custGeom>
            <a:avLst/>
            <a:gdLst/>
            <a:ahLst/>
            <a:cxnLst/>
            <a:rect l="l" t="t" r="r" b="b"/>
            <a:pathLst>
              <a:path w="7543800" h="480060">
                <a:moveTo>
                  <a:pt x="0" y="0"/>
                </a:moveTo>
                <a:lnTo>
                  <a:pt x="7543800" y="0"/>
                </a:lnTo>
                <a:lnTo>
                  <a:pt x="7543800" y="480060"/>
                </a:lnTo>
                <a:lnTo>
                  <a:pt x="0" y="4800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08610"/>
            <a:ext cx="7543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22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propuesta y arquitectura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20090"/>
            <a:ext cx="7543800" cy="274320"/>
          </a:xfrm>
          <a:custGeom>
            <a:avLst/>
            <a:gdLst/>
            <a:ahLst/>
            <a:cxnLst/>
            <a:rect l="l" t="t" r="r" b="b"/>
            <a:pathLst>
              <a:path w="7543800" h="274320">
                <a:moveTo>
                  <a:pt x="0" y="0"/>
                </a:moveTo>
                <a:lnTo>
                  <a:pt x="7543800" y="0"/>
                </a:lnTo>
                <a:lnTo>
                  <a:pt x="754380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20090"/>
            <a:ext cx="754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1013" i="1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Linux virtualizado con stack LAMP + WordPress, accesible por SSH y HTTPS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65860"/>
            <a:ext cx="1954530" cy="1748790"/>
          </a:xfrm>
          <a:custGeom>
            <a:avLst/>
            <a:gdLst/>
            <a:ahLst/>
            <a:cxnLst/>
            <a:rect l="l" t="t" r="r" b="b"/>
            <a:pathLst>
              <a:path w="1954530" h="1748790">
                <a:moveTo>
                  <a:pt x="218599" y="0"/>
                </a:moveTo>
                <a:lnTo>
                  <a:pt x="1735931" y="0"/>
                </a:lnTo>
                <a:quadBezTo>
                  <a:pt x="1954530" y="0"/>
                  <a:pt x="1954530" y="218599"/>
                </a:quadBezTo>
                <a:lnTo>
                  <a:pt x="1954530" y="1530191"/>
                </a:lnTo>
                <a:quadBezTo>
                  <a:pt x="1954530" y="1748790"/>
                  <a:pt x="1735931" y="1748790"/>
                </a:quadBezTo>
                <a:lnTo>
                  <a:pt x="218599" y="1748790"/>
                </a:lnTo>
                <a:quadBezTo>
                  <a:pt x="0" y="1748790"/>
                  <a:pt x="0" y="1530191"/>
                </a:quadBezTo>
                <a:lnTo>
                  <a:pt x="0" y="218599"/>
                </a:lnTo>
                <a:quadBezTo>
                  <a:pt x="0" y="0"/>
                  <a:pt x="218599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270000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65860"/>
            <a:ext cx="1954530" cy="174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8715" y="1337310"/>
            <a:ext cx="480060" cy="480060"/>
          </a:xfrm>
          <a:custGeom>
            <a:avLst/>
            <a:gdLst/>
            <a:ahLst/>
            <a:cxnLst/>
            <a:rect l="l" t="t" r="r" b="b"/>
            <a:pathLst>
              <a:path w="480060" h="480060">
                <a:moveTo>
                  <a:pt x="240030" y="0"/>
                </a:moveTo>
                <a:cubicBezTo>
                  <a:pt x="372506" y="0"/>
                  <a:pt x="480060" y="107554"/>
                  <a:pt x="480060" y="240030"/>
                </a:cubicBezTo>
                <a:cubicBezTo>
                  <a:pt x="480060" y="372506"/>
                  <a:pt x="372506" y="480060"/>
                  <a:pt x="240030" y="480060"/>
                </a:cubicBezTo>
                <a:cubicBezTo>
                  <a:pt x="107554" y="480060"/>
                  <a:pt x="0" y="372506"/>
                  <a:pt x="0" y="240030"/>
                </a:cubicBezTo>
                <a:cubicBezTo>
                  <a:pt x="0" y="107554"/>
                  <a:pt x="107554" y="0"/>
                  <a:pt x="240030" y="0"/>
                </a:cubicBezTo>
                <a:close/>
              </a:path>
            </a:pathLst>
          </a:custGeom>
          <a:solidFill>
            <a:srgbClr val="E6F1FB"/>
          </a:solidFill>
          <a:ln/>
        </p:spPr>
      </p:sp>
      <p:sp>
        <p:nvSpPr>
          <p:cNvPr id="9" name="Text 7"/>
          <p:cNvSpPr/>
          <p:nvPr/>
        </p:nvSpPr>
        <p:spPr>
          <a:xfrm>
            <a:off x="1148715" y="1337310"/>
            <a:ext cx="4800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585" y="144018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14350" y="1954530"/>
            <a:ext cx="1748790" cy="342900"/>
          </a:xfrm>
          <a:custGeom>
            <a:avLst/>
            <a:gdLst/>
            <a:ahLst/>
            <a:cxnLst/>
            <a:rect l="l" t="t" r="r" b="b"/>
            <a:pathLst>
              <a:path w="1748790" h="342900">
                <a:moveTo>
                  <a:pt x="0" y="0"/>
                </a:moveTo>
                <a:lnTo>
                  <a:pt x="1748790" y="0"/>
                </a:lnTo>
                <a:lnTo>
                  <a:pt x="174879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14350" y="1954530"/>
            <a:ext cx="17487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1013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Ubuntu Server 24.04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14350" y="2297430"/>
            <a:ext cx="1748790" cy="548640"/>
          </a:xfrm>
          <a:custGeom>
            <a:avLst/>
            <a:gdLst/>
            <a:ahLst/>
            <a:cxnLst/>
            <a:rect l="l" t="t" r="r" b="b"/>
            <a:pathLst>
              <a:path w="1748790" h="548640">
                <a:moveTo>
                  <a:pt x="0" y="0"/>
                </a:moveTo>
                <a:lnTo>
                  <a:pt x="1748790" y="0"/>
                </a:lnTo>
                <a:lnTo>
                  <a:pt x="174879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14350" y="2297430"/>
            <a:ext cx="17487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Virtualizado en VMware</a:t>
            </a:r>
            <a:endParaRPr lang="en-US" sz="900" dirty="0"/>
          </a:p>
          <a:p>
            <a:pPr algn="ctr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fija 192.168.76.128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03170" y="1165860"/>
            <a:ext cx="1954530" cy="1748790"/>
          </a:xfrm>
          <a:custGeom>
            <a:avLst/>
            <a:gdLst/>
            <a:ahLst/>
            <a:cxnLst/>
            <a:rect l="l" t="t" r="r" b="b"/>
            <a:pathLst>
              <a:path w="1954530" h="1748790">
                <a:moveTo>
                  <a:pt x="218599" y="0"/>
                </a:moveTo>
                <a:lnTo>
                  <a:pt x="1735931" y="0"/>
                </a:lnTo>
                <a:quadBezTo>
                  <a:pt x="1954530" y="0"/>
                  <a:pt x="1954530" y="218599"/>
                </a:quadBezTo>
                <a:lnTo>
                  <a:pt x="1954530" y="1530191"/>
                </a:lnTo>
                <a:quadBezTo>
                  <a:pt x="1954530" y="1748790"/>
                  <a:pt x="1735931" y="1748790"/>
                </a:quadBezTo>
                <a:lnTo>
                  <a:pt x="218599" y="1748790"/>
                </a:lnTo>
                <a:quadBezTo>
                  <a:pt x="0" y="1748790"/>
                  <a:pt x="0" y="1530191"/>
                </a:quadBezTo>
                <a:lnTo>
                  <a:pt x="0" y="218599"/>
                </a:lnTo>
                <a:quadBezTo>
                  <a:pt x="0" y="0"/>
                  <a:pt x="218599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2700000">
              <a:srgbClr val="000000">
                <a:alpha val="10196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503170" y="1165860"/>
            <a:ext cx="1954530" cy="174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40405" y="1337310"/>
            <a:ext cx="480060" cy="480060"/>
          </a:xfrm>
          <a:custGeom>
            <a:avLst/>
            <a:gdLst/>
            <a:ahLst/>
            <a:cxnLst/>
            <a:rect l="l" t="t" r="r" b="b"/>
            <a:pathLst>
              <a:path w="480060" h="480060">
                <a:moveTo>
                  <a:pt x="240030" y="0"/>
                </a:moveTo>
                <a:cubicBezTo>
                  <a:pt x="372506" y="0"/>
                  <a:pt x="480060" y="107554"/>
                  <a:pt x="480060" y="240030"/>
                </a:cubicBezTo>
                <a:cubicBezTo>
                  <a:pt x="480060" y="372506"/>
                  <a:pt x="372506" y="480060"/>
                  <a:pt x="240030" y="480060"/>
                </a:cubicBezTo>
                <a:cubicBezTo>
                  <a:pt x="107554" y="480060"/>
                  <a:pt x="0" y="372506"/>
                  <a:pt x="0" y="240030"/>
                </a:cubicBezTo>
                <a:cubicBezTo>
                  <a:pt x="0" y="107554"/>
                  <a:pt x="107554" y="0"/>
                  <a:pt x="240030" y="0"/>
                </a:cubicBezTo>
                <a:close/>
              </a:path>
            </a:pathLst>
          </a:custGeom>
          <a:solidFill>
            <a:srgbClr val="E6F1FB"/>
          </a:solidFill>
          <a:ln/>
        </p:spPr>
      </p:sp>
      <p:sp>
        <p:nvSpPr>
          <p:cNvPr id="18" name="Text 15"/>
          <p:cNvSpPr/>
          <p:nvPr/>
        </p:nvSpPr>
        <p:spPr>
          <a:xfrm>
            <a:off x="3240405" y="1337310"/>
            <a:ext cx="4800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275" y="1440180"/>
            <a:ext cx="274320" cy="2743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2606040" y="1954530"/>
            <a:ext cx="1748790" cy="342900"/>
          </a:xfrm>
          <a:custGeom>
            <a:avLst/>
            <a:gdLst/>
            <a:ahLst/>
            <a:cxnLst/>
            <a:rect l="l" t="t" r="r" b="b"/>
            <a:pathLst>
              <a:path w="1748790" h="342900">
                <a:moveTo>
                  <a:pt x="0" y="0"/>
                </a:moveTo>
                <a:lnTo>
                  <a:pt x="1748790" y="0"/>
                </a:lnTo>
                <a:lnTo>
                  <a:pt x="174879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2606040" y="1954530"/>
            <a:ext cx="17487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1013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+ WordPress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606040" y="2297430"/>
            <a:ext cx="1748790" cy="548640"/>
          </a:xfrm>
          <a:custGeom>
            <a:avLst/>
            <a:gdLst/>
            <a:ahLst/>
            <a:cxnLst/>
            <a:rect l="l" t="t" r="r" b="b"/>
            <a:pathLst>
              <a:path w="1748790" h="548640">
                <a:moveTo>
                  <a:pt x="0" y="0"/>
                </a:moveTo>
                <a:lnTo>
                  <a:pt x="1748790" y="0"/>
                </a:lnTo>
                <a:lnTo>
                  <a:pt x="174879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2606040" y="2297430"/>
            <a:ext cx="17487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con 4 páginas</a:t>
            </a:r>
            <a:endParaRPr lang="en-US" sz="900" dirty="0"/>
          </a:p>
          <a:p>
            <a:pPr algn="ctr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gestión de roles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594860" y="1165860"/>
            <a:ext cx="1954530" cy="1748790"/>
          </a:xfrm>
          <a:custGeom>
            <a:avLst/>
            <a:gdLst/>
            <a:ahLst/>
            <a:cxnLst/>
            <a:rect l="l" t="t" r="r" b="b"/>
            <a:pathLst>
              <a:path w="1954530" h="1748790">
                <a:moveTo>
                  <a:pt x="218599" y="0"/>
                </a:moveTo>
                <a:lnTo>
                  <a:pt x="1735931" y="0"/>
                </a:lnTo>
                <a:quadBezTo>
                  <a:pt x="1954530" y="0"/>
                  <a:pt x="1954530" y="218599"/>
                </a:quadBezTo>
                <a:lnTo>
                  <a:pt x="1954530" y="1530191"/>
                </a:lnTo>
                <a:quadBezTo>
                  <a:pt x="1954530" y="1748790"/>
                  <a:pt x="1735931" y="1748790"/>
                </a:quadBezTo>
                <a:lnTo>
                  <a:pt x="218599" y="1748790"/>
                </a:lnTo>
                <a:quadBezTo>
                  <a:pt x="0" y="1748790"/>
                  <a:pt x="0" y="1530191"/>
                </a:quadBezTo>
                <a:lnTo>
                  <a:pt x="0" y="218599"/>
                </a:lnTo>
                <a:quadBezTo>
                  <a:pt x="0" y="0"/>
                  <a:pt x="218599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2700000">
              <a:srgbClr val="000000">
                <a:alpha val="10196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594860" y="1165860"/>
            <a:ext cx="1954530" cy="174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332095" y="1337310"/>
            <a:ext cx="480060" cy="480060"/>
          </a:xfrm>
          <a:custGeom>
            <a:avLst/>
            <a:gdLst/>
            <a:ahLst/>
            <a:cxnLst/>
            <a:rect l="l" t="t" r="r" b="b"/>
            <a:pathLst>
              <a:path w="480060" h="480060">
                <a:moveTo>
                  <a:pt x="240030" y="0"/>
                </a:moveTo>
                <a:cubicBezTo>
                  <a:pt x="372506" y="0"/>
                  <a:pt x="480060" y="107554"/>
                  <a:pt x="480060" y="240030"/>
                </a:cubicBezTo>
                <a:cubicBezTo>
                  <a:pt x="480060" y="372506"/>
                  <a:pt x="372506" y="480060"/>
                  <a:pt x="240030" y="480060"/>
                </a:cubicBezTo>
                <a:cubicBezTo>
                  <a:pt x="107554" y="480060"/>
                  <a:pt x="0" y="372506"/>
                  <a:pt x="0" y="240030"/>
                </a:cubicBezTo>
                <a:cubicBezTo>
                  <a:pt x="0" y="107554"/>
                  <a:pt x="107554" y="0"/>
                  <a:pt x="240030" y="0"/>
                </a:cubicBezTo>
                <a:close/>
              </a:path>
            </a:pathLst>
          </a:custGeom>
          <a:solidFill>
            <a:srgbClr val="E6F1FB"/>
          </a:solidFill>
          <a:ln/>
        </p:spPr>
      </p:sp>
      <p:sp>
        <p:nvSpPr>
          <p:cNvPr id="27" name="Text 23"/>
          <p:cNvSpPr/>
          <p:nvPr/>
        </p:nvSpPr>
        <p:spPr>
          <a:xfrm>
            <a:off x="5332095" y="1337310"/>
            <a:ext cx="4800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965" y="1440180"/>
            <a:ext cx="274320" cy="27432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697730" y="1954530"/>
            <a:ext cx="1748790" cy="342900"/>
          </a:xfrm>
          <a:custGeom>
            <a:avLst/>
            <a:gdLst/>
            <a:ahLst/>
            <a:cxnLst/>
            <a:rect l="l" t="t" r="r" b="b"/>
            <a:pathLst>
              <a:path w="1748790" h="342900">
                <a:moveTo>
                  <a:pt x="0" y="0"/>
                </a:moveTo>
                <a:lnTo>
                  <a:pt x="1748790" y="0"/>
                </a:lnTo>
                <a:lnTo>
                  <a:pt x="174879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4697730" y="1954530"/>
            <a:ext cx="17487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1013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MariaDB + PHP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697730" y="2297430"/>
            <a:ext cx="1748790" cy="548640"/>
          </a:xfrm>
          <a:custGeom>
            <a:avLst/>
            <a:gdLst/>
            <a:ahLst/>
            <a:cxnLst/>
            <a:rect l="l" t="t" r="r" b="b"/>
            <a:pathLst>
              <a:path w="1748790" h="548640">
                <a:moveTo>
                  <a:pt x="0" y="0"/>
                </a:moveTo>
                <a:lnTo>
                  <a:pt x="1748790" y="0"/>
                </a:lnTo>
                <a:lnTo>
                  <a:pt x="174879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4697730" y="2297430"/>
            <a:ext cx="17487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del</a:t>
            </a:r>
            <a:endParaRPr lang="en-US" sz="900" dirty="0"/>
          </a:p>
          <a:p>
            <a:pPr algn="ctr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(entorno LAMP)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686550" y="1165860"/>
            <a:ext cx="1954530" cy="1748790"/>
          </a:xfrm>
          <a:custGeom>
            <a:avLst/>
            <a:gdLst/>
            <a:ahLst/>
            <a:cxnLst/>
            <a:rect l="l" t="t" r="r" b="b"/>
            <a:pathLst>
              <a:path w="1954530" h="1748790">
                <a:moveTo>
                  <a:pt x="218599" y="0"/>
                </a:moveTo>
                <a:lnTo>
                  <a:pt x="1735931" y="0"/>
                </a:lnTo>
                <a:quadBezTo>
                  <a:pt x="1954530" y="0"/>
                  <a:pt x="1954530" y="218599"/>
                </a:quadBezTo>
                <a:lnTo>
                  <a:pt x="1954530" y="1530191"/>
                </a:lnTo>
                <a:quadBezTo>
                  <a:pt x="1954530" y="1748790"/>
                  <a:pt x="1735931" y="1748790"/>
                </a:quadBezTo>
                <a:lnTo>
                  <a:pt x="218599" y="1748790"/>
                </a:lnTo>
                <a:quadBezTo>
                  <a:pt x="0" y="1748790"/>
                  <a:pt x="0" y="1530191"/>
                </a:quadBezTo>
                <a:lnTo>
                  <a:pt x="0" y="218599"/>
                </a:lnTo>
                <a:quadBezTo>
                  <a:pt x="0" y="0"/>
                  <a:pt x="218599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2700000">
              <a:srgbClr val="000000">
                <a:alpha val="10196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6686550" y="1165860"/>
            <a:ext cx="1954530" cy="174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7423785" y="1337310"/>
            <a:ext cx="480060" cy="480060"/>
          </a:xfrm>
          <a:custGeom>
            <a:avLst/>
            <a:gdLst/>
            <a:ahLst/>
            <a:cxnLst/>
            <a:rect l="l" t="t" r="r" b="b"/>
            <a:pathLst>
              <a:path w="480060" h="480060">
                <a:moveTo>
                  <a:pt x="240030" y="0"/>
                </a:moveTo>
                <a:cubicBezTo>
                  <a:pt x="372506" y="0"/>
                  <a:pt x="480060" y="107554"/>
                  <a:pt x="480060" y="240030"/>
                </a:cubicBezTo>
                <a:cubicBezTo>
                  <a:pt x="480060" y="372506"/>
                  <a:pt x="372506" y="480060"/>
                  <a:pt x="240030" y="480060"/>
                </a:cubicBezTo>
                <a:cubicBezTo>
                  <a:pt x="107554" y="480060"/>
                  <a:pt x="0" y="372506"/>
                  <a:pt x="0" y="240030"/>
                </a:cubicBezTo>
                <a:cubicBezTo>
                  <a:pt x="0" y="107554"/>
                  <a:pt x="107554" y="0"/>
                  <a:pt x="240030" y="0"/>
                </a:cubicBezTo>
                <a:close/>
              </a:path>
            </a:pathLst>
          </a:custGeom>
          <a:solidFill>
            <a:srgbClr val="E6F1FB"/>
          </a:solidFill>
          <a:ln/>
        </p:spPr>
      </p:sp>
      <p:sp>
        <p:nvSpPr>
          <p:cNvPr id="36" name="Text 31"/>
          <p:cNvSpPr/>
          <p:nvPr/>
        </p:nvSpPr>
        <p:spPr>
          <a:xfrm>
            <a:off x="7423785" y="1337310"/>
            <a:ext cx="48006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655" y="1440180"/>
            <a:ext cx="274320" cy="274320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6789420" y="1954530"/>
            <a:ext cx="1748790" cy="342900"/>
          </a:xfrm>
          <a:custGeom>
            <a:avLst/>
            <a:gdLst/>
            <a:ahLst/>
            <a:cxnLst/>
            <a:rect l="l" t="t" r="r" b="b"/>
            <a:pathLst>
              <a:path w="1748790" h="342900">
                <a:moveTo>
                  <a:pt x="0" y="0"/>
                </a:moveTo>
                <a:lnTo>
                  <a:pt x="1748790" y="0"/>
                </a:lnTo>
                <a:lnTo>
                  <a:pt x="174879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6789420" y="1954530"/>
            <a:ext cx="17487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1013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aplicada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789420" y="2297430"/>
            <a:ext cx="1748790" cy="548640"/>
          </a:xfrm>
          <a:custGeom>
            <a:avLst/>
            <a:gdLst/>
            <a:ahLst/>
            <a:cxnLst/>
            <a:rect l="l" t="t" r="r" b="b"/>
            <a:pathLst>
              <a:path w="1748790" h="548640">
                <a:moveTo>
                  <a:pt x="0" y="0"/>
                </a:moveTo>
                <a:lnTo>
                  <a:pt x="1748790" y="0"/>
                </a:lnTo>
                <a:lnTo>
                  <a:pt x="174879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6789420" y="2297430"/>
            <a:ext cx="17487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UFW, SSH endurecido,</a:t>
            </a:r>
            <a:endParaRPr lang="en-US" sz="900" dirty="0"/>
          </a:p>
          <a:p>
            <a:pPr algn="ctr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backups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411480" y="3120390"/>
            <a:ext cx="8092440" cy="480060"/>
          </a:xfrm>
          <a:custGeom>
            <a:avLst/>
            <a:gdLst/>
            <a:ahLst/>
            <a:cxnLst/>
            <a:rect l="l" t="t" r="r" b="b"/>
            <a:pathLst>
              <a:path w="8092440" h="480060">
                <a:moveTo>
                  <a:pt x="60007" y="0"/>
                </a:moveTo>
                <a:lnTo>
                  <a:pt x="8032432" y="0"/>
                </a:lnTo>
                <a:quadBezTo>
                  <a:pt x="8092440" y="0"/>
                  <a:pt x="8092440" y="60007"/>
                </a:quadBezTo>
                <a:lnTo>
                  <a:pt x="8092440" y="420052"/>
                </a:lnTo>
                <a:quadBezTo>
                  <a:pt x="8092440" y="480060"/>
                  <a:pt x="8032432" y="480060"/>
                </a:quadBezTo>
                <a:lnTo>
                  <a:pt x="60007" y="480060"/>
                </a:lnTo>
                <a:quadBezTo>
                  <a:pt x="0" y="480060"/>
                  <a:pt x="0" y="420052"/>
                </a:quadBezTo>
                <a:lnTo>
                  <a:pt x="0" y="60007"/>
                </a:lnTo>
                <a:quadBezTo>
                  <a:pt x="0" y="0"/>
                  <a:pt x="60007" y="0"/>
                </a:quadBezTo>
                <a:close/>
              </a:path>
            </a:pathLst>
          </a:custGeom>
          <a:solidFill>
            <a:srgbClr val="E6F1FB"/>
          </a:solidFill>
          <a:ln/>
        </p:spPr>
      </p:sp>
      <p:sp>
        <p:nvSpPr>
          <p:cNvPr id="43" name="Text 37"/>
          <p:cNvSpPr/>
          <p:nvPr/>
        </p:nvSpPr>
        <p:spPr>
          <a:xfrm>
            <a:off x="411480" y="3120390"/>
            <a:ext cx="809244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582930" y="3120390"/>
            <a:ext cx="7749540" cy="480060"/>
          </a:xfrm>
          <a:custGeom>
            <a:avLst/>
            <a:gdLst/>
            <a:ahLst/>
            <a:cxnLst/>
            <a:rect l="l" t="t" r="r" b="b"/>
            <a:pathLst>
              <a:path w="7749540" h="480060">
                <a:moveTo>
                  <a:pt x="0" y="0"/>
                </a:moveTo>
                <a:lnTo>
                  <a:pt x="7749540" y="0"/>
                </a:lnTo>
                <a:lnTo>
                  <a:pt x="7749540" y="480060"/>
                </a:lnTo>
                <a:lnTo>
                  <a:pt x="0" y="4800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45" name="Text 39"/>
          <p:cNvSpPr/>
          <p:nvPr/>
        </p:nvSpPr>
        <p:spPr>
          <a:xfrm>
            <a:off x="582930" y="3120390"/>
            <a:ext cx="77495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 solución:</a:t>
            </a:r>
            <a:pPr algn="l" indent="0" marL="0">
              <a:spcBef>
                <a:spcPts val="281"/>
              </a:spcBef>
              <a:buNone/>
            </a:pPr>
            <a:r>
              <a:rPr lang="en-US" sz="9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software libre (coste 0€), viable para implementar y probar en 2 semanas, y escalable a futuros servicios (DNS, ticketing).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8610"/>
            <a:ext cx="7543800" cy="480060"/>
          </a:xfrm>
          <a:custGeom>
            <a:avLst/>
            <a:gdLst/>
            <a:ahLst/>
            <a:cxnLst/>
            <a:rect l="l" t="t" r="r" b="b"/>
            <a:pathLst>
              <a:path w="7543800" h="480060">
                <a:moveTo>
                  <a:pt x="0" y="0"/>
                </a:moveTo>
                <a:lnTo>
                  <a:pt x="7543800" y="0"/>
                </a:lnTo>
                <a:lnTo>
                  <a:pt x="7543800" y="480060"/>
                </a:lnTo>
                <a:lnTo>
                  <a:pt x="0" y="4800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08610"/>
            <a:ext cx="7543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22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 de red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20090"/>
            <a:ext cx="7543800" cy="274320"/>
          </a:xfrm>
          <a:custGeom>
            <a:avLst/>
            <a:gdLst/>
            <a:ahLst/>
            <a:cxnLst/>
            <a:rect l="l" t="t" r="r" b="b"/>
            <a:pathLst>
              <a:path w="7543800" h="274320">
                <a:moveTo>
                  <a:pt x="0" y="0"/>
                </a:moveTo>
                <a:lnTo>
                  <a:pt x="7543800" y="0"/>
                </a:lnTo>
                <a:lnTo>
                  <a:pt x="754380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20090"/>
            <a:ext cx="754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1013" i="1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en la red local accediendo al servidor por SSH, HTTP y HTTPS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720090"/>
            <a:ext cx="7433491" cy="45912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8610"/>
            <a:ext cx="7886700" cy="480060"/>
          </a:xfrm>
          <a:custGeom>
            <a:avLst/>
            <a:gdLst/>
            <a:ahLst/>
            <a:cxnLst/>
            <a:rect l="l" t="t" r="r" b="b"/>
            <a:pathLst>
              <a:path w="7886700" h="480060">
                <a:moveTo>
                  <a:pt x="0" y="0"/>
                </a:moveTo>
                <a:lnTo>
                  <a:pt x="7886700" y="0"/>
                </a:lnTo>
                <a:lnTo>
                  <a:pt x="7886700" y="480060"/>
                </a:lnTo>
                <a:lnTo>
                  <a:pt x="0" y="4800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08610"/>
            <a:ext cx="78867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2081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y configuración del servidor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028700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144018" y="0"/>
                </a:moveTo>
                <a:cubicBezTo>
                  <a:pt x="223504" y="0"/>
                  <a:pt x="288036" y="64532"/>
                  <a:pt x="288036" y="144018"/>
                </a:cubicBezTo>
                <a:cubicBezTo>
                  <a:pt x="288036" y="223504"/>
                  <a:pt x="223504" y="288036"/>
                  <a:pt x="144018" y="288036"/>
                </a:cubicBezTo>
                <a:cubicBezTo>
                  <a:pt x="64532" y="288036"/>
                  <a:pt x="0" y="223504"/>
                  <a:pt x="0" y="144018"/>
                </a:cubicBezTo>
                <a:cubicBezTo>
                  <a:pt x="0" y="64532"/>
                  <a:pt x="64532" y="0"/>
                  <a:pt x="144018" y="0"/>
                </a:cubicBezTo>
                <a:close/>
              </a:path>
            </a:pathLst>
          </a:cu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28700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28700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0" y="0"/>
                </a:moveTo>
                <a:lnTo>
                  <a:pt x="288036" y="0"/>
                </a:lnTo>
                <a:lnTo>
                  <a:pt x="288036" y="288036"/>
                </a:lnTo>
                <a:lnTo>
                  <a:pt x="0" y="28803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28700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101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001268"/>
            <a:ext cx="4114800" cy="377190"/>
          </a:xfrm>
          <a:custGeom>
            <a:avLst/>
            <a:gdLst/>
            <a:ahLst/>
            <a:cxnLst/>
            <a:rect l="l" t="t" r="r" b="b"/>
            <a:pathLst>
              <a:path w="4114800" h="377190">
                <a:moveTo>
                  <a:pt x="0" y="0"/>
                </a:moveTo>
                <a:lnTo>
                  <a:pt x="4114800" y="0"/>
                </a:lnTo>
                <a:lnTo>
                  <a:pt x="4114800" y="377190"/>
                </a:lnTo>
                <a:lnTo>
                  <a:pt x="0" y="37719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001268"/>
            <a:ext cx="411480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56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 Ubuntu Server 24.04 LTS sobre VMware Workstation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522476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144018" y="0"/>
                </a:moveTo>
                <a:cubicBezTo>
                  <a:pt x="223504" y="0"/>
                  <a:pt x="288036" y="64532"/>
                  <a:pt x="288036" y="144018"/>
                </a:cubicBezTo>
                <a:cubicBezTo>
                  <a:pt x="288036" y="223504"/>
                  <a:pt x="223504" y="288036"/>
                  <a:pt x="144018" y="288036"/>
                </a:cubicBezTo>
                <a:cubicBezTo>
                  <a:pt x="64532" y="288036"/>
                  <a:pt x="0" y="223504"/>
                  <a:pt x="0" y="144018"/>
                </a:cubicBezTo>
                <a:cubicBezTo>
                  <a:pt x="0" y="64532"/>
                  <a:pt x="64532" y="0"/>
                  <a:pt x="144018" y="0"/>
                </a:cubicBezTo>
                <a:close/>
              </a:path>
            </a:pathLst>
          </a:cu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522476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522476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0" y="0"/>
                </a:moveTo>
                <a:lnTo>
                  <a:pt x="288036" y="0"/>
                </a:lnTo>
                <a:lnTo>
                  <a:pt x="288036" y="288036"/>
                </a:lnTo>
                <a:lnTo>
                  <a:pt x="0" y="28803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522476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101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1495044"/>
            <a:ext cx="4114800" cy="377190"/>
          </a:xfrm>
          <a:custGeom>
            <a:avLst/>
            <a:gdLst/>
            <a:ahLst/>
            <a:cxnLst/>
            <a:rect l="l" t="t" r="r" b="b"/>
            <a:pathLst>
              <a:path w="4114800" h="377190">
                <a:moveTo>
                  <a:pt x="0" y="0"/>
                </a:moveTo>
                <a:lnTo>
                  <a:pt x="4114800" y="0"/>
                </a:lnTo>
                <a:lnTo>
                  <a:pt x="4114800" y="377190"/>
                </a:lnTo>
                <a:lnTo>
                  <a:pt x="0" y="37719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495044"/>
            <a:ext cx="411480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56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red con IP estática (192.168.76.128) vía netplan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016252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144018" y="0"/>
                </a:moveTo>
                <a:cubicBezTo>
                  <a:pt x="223504" y="0"/>
                  <a:pt x="288036" y="64532"/>
                  <a:pt x="288036" y="144018"/>
                </a:cubicBezTo>
                <a:cubicBezTo>
                  <a:pt x="288036" y="223504"/>
                  <a:pt x="223504" y="288036"/>
                  <a:pt x="144018" y="288036"/>
                </a:cubicBezTo>
                <a:cubicBezTo>
                  <a:pt x="64532" y="288036"/>
                  <a:pt x="0" y="223504"/>
                  <a:pt x="0" y="144018"/>
                </a:cubicBezTo>
                <a:cubicBezTo>
                  <a:pt x="0" y="64532"/>
                  <a:pt x="64532" y="0"/>
                  <a:pt x="144018" y="0"/>
                </a:cubicBezTo>
                <a:close/>
              </a:path>
            </a:pathLst>
          </a:cu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016252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016252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0" y="0"/>
                </a:moveTo>
                <a:lnTo>
                  <a:pt x="288036" y="0"/>
                </a:lnTo>
                <a:lnTo>
                  <a:pt x="288036" y="288036"/>
                </a:lnTo>
                <a:lnTo>
                  <a:pt x="0" y="28803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016252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101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" y="1988820"/>
            <a:ext cx="4114800" cy="377190"/>
          </a:xfrm>
          <a:custGeom>
            <a:avLst/>
            <a:gdLst/>
            <a:ahLst/>
            <a:cxnLst/>
            <a:rect l="l" t="t" r="r" b="b"/>
            <a:pathLst>
              <a:path w="4114800" h="377190">
                <a:moveTo>
                  <a:pt x="0" y="0"/>
                </a:moveTo>
                <a:lnTo>
                  <a:pt x="4114800" y="0"/>
                </a:lnTo>
                <a:lnTo>
                  <a:pt x="4114800" y="377190"/>
                </a:lnTo>
                <a:lnTo>
                  <a:pt x="0" y="37719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1988820"/>
            <a:ext cx="411480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56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y activación del servicio OpenSSH para acceso remoto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510028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144018" y="0"/>
                </a:moveTo>
                <a:cubicBezTo>
                  <a:pt x="223504" y="0"/>
                  <a:pt x="288036" y="64532"/>
                  <a:pt x="288036" y="144018"/>
                </a:cubicBezTo>
                <a:cubicBezTo>
                  <a:pt x="288036" y="223504"/>
                  <a:pt x="223504" y="288036"/>
                  <a:pt x="144018" y="288036"/>
                </a:cubicBezTo>
                <a:cubicBezTo>
                  <a:pt x="64532" y="288036"/>
                  <a:pt x="0" y="223504"/>
                  <a:pt x="0" y="144018"/>
                </a:cubicBezTo>
                <a:cubicBezTo>
                  <a:pt x="0" y="64532"/>
                  <a:pt x="64532" y="0"/>
                  <a:pt x="144018" y="0"/>
                </a:cubicBezTo>
                <a:close/>
              </a:path>
            </a:pathLst>
          </a:cu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510028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2510028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0" y="0"/>
                </a:moveTo>
                <a:lnTo>
                  <a:pt x="288036" y="0"/>
                </a:lnTo>
                <a:lnTo>
                  <a:pt x="288036" y="288036"/>
                </a:lnTo>
                <a:lnTo>
                  <a:pt x="0" y="28803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510028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101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2960" y="2482596"/>
            <a:ext cx="4114800" cy="377190"/>
          </a:xfrm>
          <a:custGeom>
            <a:avLst/>
            <a:gdLst/>
            <a:ahLst/>
            <a:cxnLst/>
            <a:rect l="l" t="t" r="r" b="b"/>
            <a:pathLst>
              <a:path w="4114800" h="377190">
                <a:moveTo>
                  <a:pt x="0" y="0"/>
                </a:moveTo>
                <a:lnTo>
                  <a:pt x="4114800" y="0"/>
                </a:lnTo>
                <a:lnTo>
                  <a:pt x="4114800" y="377190"/>
                </a:lnTo>
                <a:lnTo>
                  <a:pt x="0" y="37719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2482596"/>
            <a:ext cx="411480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56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usuarios del sistema: admin_ti, tecnico y cliente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003804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144018" y="0"/>
                </a:moveTo>
                <a:cubicBezTo>
                  <a:pt x="223504" y="0"/>
                  <a:pt x="288036" y="64532"/>
                  <a:pt x="288036" y="144018"/>
                </a:cubicBezTo>
                <a:cubicBezTo>
                  <a:pt x="288036" y="223504"/>
                  <a:pt x="223504" y="288036"/>
                  <a:pt x="144018" y="288036"/>
                </a:cubicBezTo>
                <a:cubicBezTo>
                  <a:pt x="64532" y="288036"/>
                  <a:pt x="0" y="223504"/>
                  <a:pt x="0" y="144018"/>
                </a:cubicBezTo>
                <a:cubicBezTo>
                  <a:pt x="0" y="64532"/>
                  <a:pt x="64532" y="0"/>
                  <a:pt x="144018" y="0"/>
                </a:cubicBezTo>
                <a:close/>
              </a:path>
            </a:pathLst>
          </a:cu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003804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003804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0" y="0"/>
                </a:moveTo>
                <a:lnTo>
                  <a:pt x="288036" y="0"/>
                </a:lnTo>
                <a:lnTo>
                  <a:pt x="288036" y="288036"/>
                </a:lnTo>
                <a:lnTo>
                  <a:pt x="0" y="28803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003804"/>
            <a:ext cx="288036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101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2960" y="2976372"/>
            <a:ext cx="4114800" cy="377190"/>
          </a:xfrm>
          <a:custGeom>
            <a:avLst/>
            <a:gdLst/>
            <a:ahLst/>
            <a:cxnLst/>
            <a:rect l="l" t="t" r="r" b="b"/>
            <a:pathLst>
              <a:path w="4114800" h="377190">
                <a:moveTo>
                  <a:pt x="0" y="0"/>
                </a:moveTo>
                <a:lnTo>
                  <a:pt x="4114800" y="0"/>
                </a:lnTo>
                <a:lnTo>
                  <a:pt x="4114800" y="377190"/>
                </a:lnTo>
                <a:lnTo>
                  <a:pt x="0" y="37719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2976372"/>
            <a:ext cx="411480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56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compartida /srv/documentacion con permisos de grupo (770)</a:t>
            </a:r>
            <a:endParaRPr lang="en-US" sz="9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4788" y="1085486"/>
            <a:ext cx="4551276" cy="35486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8610"/>
            <a:ext cx="7543800" cy="480060"/>
          </a:xfrm>
          <a:custGeom>
            <a:avLst/>
            <a:gdLst/>
            <a:ahLst/>
            <a:cxnLst/>
            <a:rect l="l" t="t" r="r" b="b"/>
            <a:pathLst>
              <a:path w="7543800" h="480060">
                <a:moveTo>
                  <a:pt x="0" y="0"/>
                </a:moveTo>
                <a:lnTo>
                  <a:pt x="7543800" y="0"/>
                </a:lnTo>
                <a:lnTo>
                  <a:pt x="7543800" y="480060"/>
                </a:lnTo>
                <a:lnTo>
                  <a:pt x="0" y="4800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08610"/>
            <a:ext cx="7543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2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web interno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20090"/>
            <a:ext cx="7543800" cy="274320"/>
          </a:xfrm>
          <a:custGeom>
            <a:avLst/>
            <a:gdLst/>
            <a:ahLst/>
            <a:cxnLst/>
            <a:rect l="l" t="t" r="r" b="b"/>
            <a:pathLst>
              <a:path w="7543800" h="274320">
                <a:moveTo>
                  <a:pt x="0" y="0"/>
                </a:moveTo>
                <a:lnTo>
                  <a:pt x="7543800" y="0"/>
                </a:lnTo>
                <a:lnTo>
                  <a:pt x="754380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20090"/>
            <a:ext cx="754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1013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sobre Apache, con 4 páginas obligatorias y roles diferenciados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65860"/>
            <a:ext cx="1954530" cy="754380"/>
          </a:xfrm>
          <a:custGeom>
            <a:avLst/>
            <a:gdLst/>
            <a:ahLst/>
            <a:cxnLst/>
            <a:rect l="l" t="t" r="r" b="b"/>
            <a:pathLst>
              <a:path w="1954530" h="754380">
                <a:moveTo>
                  <a:pt x="94298" y="0"/>
                </a:moveTo>
                <a:lnTo>
                  <a:pt x="1860232" y="0"/>
                </a:lnTo>
                <a:quadBezTo>
                  <a:pt x="1954530" y="0"/>
                  <a:pt x="1954530" y="94298"/>
                </a:quadBezTo>
                <a:lnTo>
                  <a:pt x="1954530" y="660082"/>
                </a:lnTo>
                <a:quadBezTo>
                  <a:pt x="1954530" y="754380"/>
                  <a:pt x="1860232" y="754380"/>
                </a:quadBezTo>
                <a:lnTo>
                  <a:pt x="94298" y="754380"/>
                </a:lnTo>
                <a:quadBezTo>
                  <a:pt x="0" y="754380"/>
                  <a:pt x="0" y="660082"/>
                </a:quadBezTo>
                <a:lnTo>
                  <a:pt x="0" y="94298"/>
                </a:lnTo>
                <a:quadBezTo>
                  <a:pt x="0" y="0"/>
                  <a:pt x="94298" y="0"/>
                </a:quadBezTo>
                <a:close/>
              </a:path>
            </a:pathLst>
          </a:custGeom>
          <a:solidFill>
            <a:srgbClr val="12243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65860"/>
            <a:ext cx="195453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1289304"/>
            <a:ext cx="219456" cy="219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14350" y="1543050"/>
            <a:ext cx="1748790" cy="342900"/>
          </a:xfrm>
          <a:custGeom>
            <a:avLst/>
            <a:gdLst/>
            <a:ahLst/>
            <a:cxnLst/>
            <a:rect l="l" t="t" r="r" b="b"/>
            <a:pathLst>
              <a:path w="1748790" h="342900">
                <a:moveTo>
                  <a:pt x="0" y="0"/>
                </a:moveTo>
                <a:lnTo>
                  <a:pt x="1748790" y="0"/>
                </a:lnTo>
                <a:lnTo>
                  <a:pt x="174879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14350" y="1543050"/>
            <a:ext cx="174879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03170" y="1165860"/>
            <a:ext cx="1954530" cy="754380"/>
          </a:xfrm>
          <a:custGeom>
            <a:avLst/>
            <a:gdLst/>
            <a:ahLst/>
            <a:cxnLst/>
            <a:rect l="l" t="t" r="r" b="b"/>
            <a:pathLst>
              <a:path w="1954530" h="754380">
                <a:moveTo>
                  <a:pt x="94298" y="0"/>
                </a:moveTo>
                <a:lnTo>
                  <a:pt x="1860232" y="0"/>
                </a:lnTo>
                <a:quadBezTo>
                  <a:pt x="1954530" y="0"/>
                  <a:pt x="1954530" y="94298"/>
                </a:quadBezTo>
                <a:lnTo>
                  <a:pt x="1954530" y="660082"/>
                </a:lnTo>
                <a:quadBezTo>
                  <a:pt x="1954530" y="754380"/>
                  <a:pt x="1860232" y="754380"/>
                </a:quadBezTo>
                <a:lnTo>
                  <a:pt x="94298" y="754380"/>
                </a:lnTo>
                <a:quadBezTo>
                  <a:pt x="0" y="754380"/>
                  <a:pt x="0" y="660082"/>
                </a:quadBezTo>
                <a:lnTo>
                  <a:pt x="0" y="94298"/>
                </a:lnTo>
                <a:quadBezTo>
                  <a:pt x="0" y="0"/>
                  <a:pt x="94298" y="0"/>
                </a:quadBezTo>
                <a:close/>
              </a:path>
            </a:pathLst>
          </a:custGeom>
          <a:solidFill>
            <a:srgbClr val="12243F"/>
          </a:solidFill>
          <a:ln/>
        </p:spPr>
      </p:sp>
      <p:sp>
        <p:nvSpPr>
          <p:cNvPr id="12" name="Text 9"/>
          <p:cNvSpPr/>
          <p:nvPr/>
        </p:nvSpPr>
        <p:spPr>
          <a:xfrm>
            <a:off x="2503170" y="1165860"/>
            <a:ext cx="195453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614" y="1289304"/>
            <a:ext cx="219456" cy="21945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606040" y="1543050"/>
            <a:ext cx="1748790" cy="342900"/>
          </a:xfrm>
          <a:custGeom>
            <a:avLst/>
            <a:gdLst/>
            <a:ahLst/>
            <a:cxnLst/>
            <a:rect l="l" t="t" r="r" b="b"/>
            <a:pathLst>
              <a:path w="1748790" h="342900">
                <a:moveTo>
                  <a:pt x="0" y="0"/>
                </a:moveTo>
                <a:lnTo>
                  <a:pt x="1748790" y="0"/>
                </a:lnTo>
                <a:lnTo>
                  <a:pt x="174879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2606040" y="1543050"/>
            <a:ext cx="174879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abrir una incidencia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94860" y="1165860"/>
            <a:ext cx="1954530" cy="754380"/>
          </a:xfrm>
          <a:custGeom>
            <a:avLst/>
            <a:gdLst/>
            <a:ahLst/>
            <a:cxnLst/>
            <a:rect l="l" t="t" r="r" b="b"/>
            <a:pathLst>
              <a:path w="1954530" h="754380">
                <a:moveTo>
                  <a:pt x="94298" y="0"/>
                </a:moveTo>
                <a:lnTo>
                  <a:pt x="1860232" y="0"/>
                </a:lnTo>
                <a:quadBezTo>
                  <a:pt x="1954530" y="0"/>
                  <a:pt x="1954530" y="94298"/>
                </a:quadBezTo>
                <a:lnTo>
                  <a:pt x="1954530" y="660082"/>
                </a:lnTo>
                <a:quadBezTo>
                  <a:pt x="1954530" y="754380"/>
                  <a:pt x="1860232" y="754380"/>
                </a:quadBezTo>
                <a:lnTo>
                  <a:pt x="94298" y="754380"/>
                </a:lnTo>
                <a:quadBezTo>
                  <a:pt x="0" y="754380"/>
                  <a:pt x="0" y="660082"/>
                </a:quadBezTo>
                <a:lnTo>
                  <a:pt x="0" y="94298"/>
                </a:lnTo>
                <a:quadBezTo>
                  <a:pt x="0" y="0"/>
                  <a:pt x="94298" y="0"/>
                </a:quadBezTo>
                <a:close/>
              </a:path>
            </a:pathLst>
          </a:custGeom>
          <a:solidFill>
            <a:srgbClr val="12243F"/>
          </a:solidFill>
          <a:ln/>
        </p:spPr>
      </p:sp>
      <p:sp>
        <p:nvSpPr>
          <p:cNvPr id="17" name="Text 13"/>
          <p:cNvSpPr/>
          <p:nvPr/>
        </p:nvSpPr>
        <p:spPr>
          <a:xfrm>
            <a:off x="4594860" y="1165860"/>
            <a:ext cx="195453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1289304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697730" y="1543050"/>
            <a:ext cx="1748790" cy="342900"/>
          </a:xfrm>
          <a:custGeom>
            <a:avLst/>
            <a:gdLst/>
            <a:ahLst/>
            <a:cxnLst/>
            <a:rect l="l" t="t" r="r" b="b"/>
            <a:pathLst>
              <a:path w="1748790" h="342900">
                <a:moveTo>
                  <a:pt x="0" y="0"/>
                </a:moveTo>
                <a:lnTo>
                  <a:pt x="1748790" y="0"/>
                </a:lnTo>
                <a:lnTo>
                  <a:pt x="174879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4697730" y="1543050"/>
            <a:ext cx="174879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básicas de uso seguro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686550" y="1165860"/>
            <a:ext cx="1954530" cy="754380"/>
          </a:xfrm>
          <a:custGeom>
            <a:avLst/>
            <a:gdLst/>
            <a:ahLst/>
            <a:cxnLst/>
            <a:rect l="l" t="t" r="r" b="b"/>
            <a:pathLst>
              <a:path w="1954530" h="754380">
                <a:moveTo>
                  <a:pt x="94298" y="0"/>
                </a:moveTo>
                <a:lnTo>
                  <a:pt x="1860232" y="0"/>
                </a:lnTo>
                <a:quadBezTo>
                  <a:pt x="1954530" y="0"/>
                  <a:pt x="1954530" y="94298"/>
                </a:quadBezTo>
                <a:lnTo>
                  <a:pt x="1954530" y="660082"/>
                </a:lnTo>
                <a:quadBezTo>
                  <a:pt x="1954530" y="754380"/>
                  <a:pt x="1860232" y="754380"/>
                </a:quadBezTo>
                <a:lnTo>
                  <a:pt x="94298" y="754380"/>
                </a:lnTo>
                <a:quadBezTo>
                  <a:pt x="0" y="754380"/>
                  <a:pt x="0" y="660082"/>
                </a:quadBezTo>
                <a:lnTo>
                  <a:pt x="0" y="94298"/>
                </a:lnTo>
                <a:quadBezTo>
                  <a:pt x="0" y="0"/>
                  <a:pt x="94298" y="0"/>
                </a:quadBezTo>
                <a:close/>
              </a:path>
            </a:pathLst>
          </a:custGeom>
          <a:solidFill>
            <a:srgbClr val="12243F"/>
          </a:solidFill>
          <a:ln/>
        </p:spPr>
      </p:sp>
      <p:sp>
        <p:nvSpPr>
          <p:cNvPr id="22" name="Text 17"/>
          <p:cNvSpPr/>
          <p:nvPr/>
        </p:nvSpPr>
        <p:spPr>
          <a:xfrm>
            <a:off x="6686550" y="1165860"/>
            <a:ext cx="195453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994" y="1289304"/>
            <a:ext cx="219456" cy="21945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789420" y="1543050"/>
            <a:ext cx="1748790" cy="342900"/>
          </a:xfrm>
          <a:custGeom>
            <a:avLst/>
            <a:gdLst/>
            <a:ahLst/>
            <a:cxnLst/>
            <a:rect l="l" t="t" r="r" b="b"/>
            <a:pathLst>
              <a:path w="1748790" h="342900">
                <a:moveTo>
                  <a:pt x="0" y="0"/>
                </a:moveTo>
                <a:lnTo>
                  <a:pt x="1748790" y="0"/>
                </a:lnTo>
                <a:lnTo>
                  <a:pt x="174879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6789420" y="1543050"/>
            <a:ext cx="174879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disponibles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11480" y="2091690"/>
            <a:ext cx="4114800" cy="274320"/>
          </a:xfrm>
          <a:custGeom>
            <a:avLst/>
            <a:gdLst/>
            <a:ahLst/>
            <a:cxnLst/>
            <a:rect l="l" t="t" r="r" b="b"/>
            <a:pathLst>
              <a:path w="4114800" h="274320">
                <a:moveTo>
                  <a:pt x="0" y="0"/>
                </a:moveTo>
                <a:lnTo>
                  <a:pt x="4114800" y="0"/>
                </a:lnTo>
                <a:lnTo>
                  <a:pt x="411480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411480" y="209169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1125" b="1" dirty="0">
                <a:solidFill>
                  <a:srgbClr val="5FB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 usuario en WordPress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400300"/>
          <a:ext cx="3840480" cy="1172914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</a:tblGrid>
              <a:tr h="293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 WordPress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93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admin_ti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</a:tr>
              <a:tr h="293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</a:tr>
              <a:tr h="293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334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</a:tr>
            </a:tbl>
          </a:graphicData>
        </a:graphic>
      </p:graphicFrame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8476" y="2091690"/>
            <a:ext cx="4121135" cy="2651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8610"/>
            <a:ext cx="7543800" cy="480060"/>
          </a:xfrm>
          <a:custGeom>
            <a:avLst/>
            <a:gdLst/>
            <a:ahLst/>
            <a:cxnLst/>
            <a:rect l="l" t="t" r="r" b="b"/>
            <a:pathLst>
              <a:path w="7543800" h="480060">
                <a:moveTo>
                  <a:pt x="0" y="0"/>
                </a:moveTo>
                <a:lnTo>
                  <a:pt x="7543800" y="0"/>
                </a:lnTo>
                <a:lnTo>
                  <a:pt x="7543800" y="480060"/>
                </a:lnTo>
                <a:lnTo>
                  <a:pt x="0" y="4800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08610"/>
            <a:ext cx="7543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22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aplicada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028700"/>
            <a:ext cx="1954530" cy="1577340"/>
          </a:xfrm>
          <a:custGeom>
            <a:avLst/>
            <a:gdLst/>
            <a:ahLst/>
            <a:cxnLst/>
            <a:rect l="l" t="t" r="r" b="b"/>
            <a:pathLst>
              <a:path w="1954530" h="1577340">
                <a:moveTo>
                  <a:pt x="197167" y="0"/>
                </a:moveTo>
                <a:lnTo>
                  <a:pt x="1757362" y="0"/>
                </a:lnTo>
                <a:quadBezTo>
                  <a:pt x="1954530" y="0"/>
                  <a:pt x="1954530" y="197167"/>
                </a:quadBezTo>
                <a:lnTo>
                  <a:pt x="1954530" y="1380173"/>
                </a:lnTo>
                <a:quadBezTo>
                  <a:pt x="1954530" y="1577340"/>
                  <a:pt x="1757362" y="1577340"/>
                </a:quadBezTo>
                <a:lnTo>
                  <a:pt x="197167" y="1577340"/>
                </a:lnTo>
                <a:quadBezTo>
                  <a:pt x="0" y="1577340"/>
                  <a:pt x="0" y="1380173"/>
                </a:quadBezTo>
                <a:lnTo>
                  <a:pt x="0" y="197167"/>
                </a:lnTo>
                <a:quadBezTo>
                  <a:pt x="0" y="0"/>
                  <a:pt x="197167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27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28700"/>
            <a:ext cx="1954530" cy="157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69289" y="1179576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9456" y="0"/>
                </a:moveTo>
                <a:cubicBezTo>
                  <a:pt x="340577" y="0"/>
                  <a:pt x="438912" y="98335"/>
                  <a:pt x="438912" y="219456"/>
                </a:cubicBezTo>
                <a:cubicBezTo>
                  <a:pt x="438912" y="340577"/>
                  <a:pt x="340577" y="438912"/>
                  <a:pt x="219456" y="438912"/>
                </a:cubicBezTo>
                <a:cubicBezTo>
                  <a:pt x="98335" y="438912"/>
                  <a:pt x="0" y="340577"/>
                  <a:pt x="0" y="219456"/>
                </a:cubicBezTo>
                <a:cubicBezTo>
                  <a:pt x="0" y="98335"/>
                  <a:pt x="98335" y="0"/>
                  <a:pt x="219456" y="0"/>
                </a:cubicBezTo>
                <a:close/>
              </a:path>
            </a:pathLst>
          </a:custGeom>
          <a:solidFill>
            <a:srgbClr val="FAECE7"/>
          </a:solidFill>
          <a:ln/>
        </p:spPr>
      </p:sp>
      <p:sp>
        <p:nvSpPr>
          <p:cNvPr id="7" name="Text 5"/>
          <p:cNvSpPr/>
          <p:nvPr/>
        </p:nvSpPr>
        <p:spPr>
          <a:xfrm>
            <a:off x="1169289" y="11795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301" y="1275588"/>
            <a:ext cx="246888" cy="2468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0060" y="1680210"/>
            <a:ext cx="1817370" cy="274320"/>
          </a:xfrm>
          <a:custGeom>
            <a:avLst/>
            <a:gdLst/>
            <a:ahLst/>
            <a:cxnLst/>
            <a:rect l="l" t="t" r="r" b="b"/>
            <a:pathLst>
              <a:path w="1817370" h="274320">
                <a:moveTo>
                  <a:pt x="0" y="0"/>
                </a:moveTo>
                <a:lnTo>
                  <a:pt x="1817370" y="0"/>
                </a:lnTo>
                <a:lnTo>
                  <a:pt x="181737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80060" y="1680210"/>
            <a:ext cx="18173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 UFW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80060" y="1954530"/>
            <a:ext cx="1817370" cy="582930"/>
          </a:xfrm>
          <a:custGeom>
            <a:avLst/>
            <a:gdLst/>
            <a:ahLst/>
            <a:cxnLst/>
            <a:rect l="l" t="t" r="r" b="b"/>
            <a:pathLst>
              <a:path w="1817370" h="582930">
                <a:moveTo>
                  <a:pt x="0" y="0"/>
                </a:moveTo>
                <a:lnTo>
                  <a:pt x="1817370" y="0"/>
                </a:lnTo>
                <a:lnTo>
                  <a:pt x="1817370" y="582930"/>
                </a:lnTo>
                <a:lnTo>
                  <a:pt x="0" y="5829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80060" y="1954530"/>
            <a:ext cx="181737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puertos 22, 80 y 443 abiertos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03170" y="1028700"/>
            <a:ext cx="1954530" cy="1577340"/>
          </a:xfrm>
          <a:custGeom>
            <a:avLst/>
            <a:gdLst/>
            <a:ahLst/>
            <a:cxnLst/>
            <a:rect l="l" t="t" r="r" b="b"/>
            <a:pathLst>
              <a:path w="1954530" h="1577340">
                <a:moveTo>
                  <a:pt x="197167" y="0"/>
                </a:moveTo>
                <a:lnTo>
                  <a:pt x="1757362" y="0"/>
                </a:lnTo>
                <a:quadBezTo>
                  <a:pt x="1954530" y="0"/>
                  <a:pt x="1954530" y="197167"/>
                </a:quadBezTo>
                <a:lnTo>
                  <a:pt x="1954530" y="1380173"/>
                </a:lnTo>
                <a:quadBezTo>
                  <a:pt x="1954530" y="1577340"/>
                  <a:pt x="1757362" y="1577340"/>
                </a:quadBezTo>
                <a:lnTo>
                  <a:pt x="197167" y="1577340"/>
                </a:lnTo>
                <a:quadBezTo>
                  <a:pt x="0" y="1577340"/>
                  <a:pt x="0" y="1380173"/>
                </a:quadBezTo>
                <a:lnTo>
                  <a:pt x="0" y="197167"/>
                </a:lnTo>
                <a:quadBezTo>
                  <a:pt x="0" y="0"/>
                  <a:pt x="197167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2700000">
              <a:srgbClr val="000000">
                <a:alpha val="10196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503170" y="1028700"/>
            <a:ext cx="1954530" cy="157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60979" y="1179576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9456" y="0"/>
                </a:moveTo>
                <a:cubicBezTo>
                  <a:pt x="340577" y="0"/>
                  <a:pt x="438912" y="98335"/>
                  <a:pt x="438912" y="219456"/>
                </a:cubicBezTo>
                <a:cubicBezTo>
                  <a:pt x="438912" y="340577"/>
                  <a:pt x="340577" y="438912"/>
                  <a:pt x="219456" y="438912"/>
                </a:cubicBezTo>
                <a:cubicBezTo>
                  <a:pt x="98335" y="438912"/>
                  <a:pt x="0" y="340577"/>
                  <a:pt x="0" y="219456"/>
                </a:cubicBezTo>
                <a:cubicBezTo>
                  <a:pt x="0" y="98335"/>
                  <a:pt x="98335" y="0"/>
                  <a:pt x="219456" y="0"/>
                </a:cubicBezTo>
                <a:close/>
              </a:path>
            </a:pathLst>
          </a:custGeom>
          <a:solidFill>
            <a:srgbClr val="FAECE7"/>
          </a:solidFill>
          <a:ln/>
        </p:spPr>
      </p:sp>
      <p:sp>
        <p:nvSpPr>
          <p:cNvPr id="16" name="Text 13"/>
          <p:cNvSpPr/>
          <p:nvPr/>
        </p:nvSpPr>
        <p:spPr>
          <a:xfrm>
            <a:off x="3260979" y="11795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991" y="1275588"/>
            <a:ext cx="246888" cy="24688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571750" y="1680210"/>
            <a:ext cx="1817370" cy="274320"/>
          </a:xfrm>
          <a:custGeom>
            <a:avLst/>
            <a:gdLst/>
            <a:ahLst/>
            <a:cxnLst/>
            <a:rect l="l" t="t" r="r" b="b"/>
            <a:pathLst>
              <a:path w="1817370" h="274320">
                <a:moveTo>
                  <a:pt x="0" y="0"/>
                </a:moveTo>
                <a:lnTo>
                  <a:pt x="1817370" y="0"/>
                </a:lnTo>
                <a:lnTo>
                  <a:pt x="181737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2571750" y="1680210"/>
            <a:ext cx="18173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endurecido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571750" y="1954530"/>
            <a:ext cx="1817370" cy="582930"/>
          </a:xfrm>
          <a:custGeom>
            <a:avLst/>
            <a:gdLst/>
            <a:ahLst/>
            <a:cxnLst/>
            <a:rect l="l" t="t" r="r" b="b"/>
            <a:pathLst>
              <a:path w="1817370" h="582930">
                <a:moveTo>
                  <a:pt x="0" y="0"/>
                </a:moveTo>
                <a:lnTo>
                  <a:pt x="1817370" y="0"/>
                </a:lnTo>
                <a:lnTo>
                  <a:pt x="1817370" y="582930"/>
                </a:lnTo>
                <a:lnTo>
                  <a:pt x="0" y="5829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2571750" y="1954530"/>
            <a:ext cx="181737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 root directo;</a:t>
            </a:r>
            <a:endParaRPr lang="en-US" sz="900" dirty="0"/>
          </a:p>
          <a:p>
            <a:pPr algn="ctr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usuarios autorizados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594860" y="1028700"/>
            <a:ext cx="1954530" cy="1577340"/>
          </a:xfrm>
          <a:custGeom>
            <a:avLst/>
            <a:gdLst/>
            <a:ahLst/>
            <a:cxnLst/>
            <a:rect l="l" t="t" r="r" b="b"/>
            <a:pathLst>
              <a:path w="1954530" h="1577340">
                <a:moveTo>
                  <a:pt x="197167" y="0"/>
                </a:moveTo>
                <a:lnTo>
                  <a:pt x="1757362" y="0"/>
                </a:lnTo>
                <a:quadBezTo>
                  <a:pt x="1954530" y="0"/>
                  <a:pt x="1954530" y="197167"/>
                </a:quadBezTo>
                <a:lnTo>
                  <a:pt x="1954530" y="1380173"/>
                </a:lnTo>
                <a:quadBezTo>
                  <a:pt x="1954530" y="1577340"/>
                  <a:pt x="1757362" y="1577340"/>
                </a:quadBezTo>
                <a:lnTo>
                  <a:pt x="197167" y="1577340"/>
                </a:lnTo>
                <a:quadBezTo>
                  <a:pt x="0" y="1577340"/>
                  <a:pt x="0" y="1380173"/>
                </a:quadBezTo>
                <a:lnTo>
                  <a:pt x="0" y="197167"/>
                </a:lnTo>
                <a:quadBezTo>
                  <a:pt x="0" y="0"/>
                  <a:pt x="197167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2700000">
              <a:srgbClr val="000000">
                <a:alpha val="10196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4594860" y="1028700"/>
            <a:ext cx="1954530" cy="157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352669" y="1179576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9456" y="0"/>
                </a:moveTo>
                <a:cubicBezTo>
                  <a:pt x="340577" y="0"/>
                  <a:pt x="438912" y="98335"/>
                  <a:pt x="438912" y="219456"/>
                </a:cubicBezTo>
                <a:cubicBezTo>
                  <a:pt x="438912" y="340577"/>
                  <a:pt x="340577" y="438912"/>
                  <a:pt x="219456" y="438912"/>
                </a:cubicBezTo>
                <a:cubicBezTo>
                  <a:pt x="98335" y="438912"/>
                  <a:pt x="0" y="340577"/>
                  <a:pt x="0" y="219456"/>
                </a:cubicBezTo>
                <a:cubicBezTo>
                  <a:pt x="0" y="98335"/>
                  <a:pt x="98335" y="0"/>
                  <a:pt x="219456" y="0"/>
                </a:cubicBezTo>
                <a:close/>
              </a:path>
            </a:pathLst>
          </a:custGeom>
          <a:solidFill>
            <a:srgbClr val="FAECE7"/>
          </a:solidFill>
          <a:ln/>
        </p:spPr>
      </p:sp>
      <p:sp>
        <p:nvSpPr>
          <p:cNvPr id="25" name="Text 21"/>
          <p:cNvSpPr/>
          <p:nvPr/>
        </p:nvSpPr>
        <p:spPr>
          <a:xfrm>
            <a:off x="5352669" y="11795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681" y="1275588"/>
            <a:ext cx="246888" cy="246888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663440" y="1680210"/>
            <a:ext cx="1817370" cy="274320"/>
          </a:xfrm>
          <a:custGeom>
            <a:avLst/>
            <a:gdLst/>
            <a:ahLst/>
            <a:cxnLst/>
            <a:rect l="l" t="t" r="r" b="b"/>
            <a:pathLst>
              <a:path w="1817370" h="274320">
                <a:moveTo>
                  <a:pt x="0" y="0"/>
                </a:moveTo>
                <a:lnTo>
                  <a:pt x="1817370" y="0"/>
                </a:lnTo>
                <a:lnTo>
                  <a:pt x="181737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4663440" y="1680210"/>
            <a:ext cx="18173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/ SSL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663440" y="1954530"/>
            <a:ext cx="1817370" cy="582930"/>
          </a:xfrm>
          <a:custGeom>
            <a:avLst/>
            <a:gdLst/>
            <a:ahLst/>
            <a:cxnLst/>
            <a:rect l="l" t="t" r="r" b="b"/>
            <a:pathLst>
              <a:path w="1817370" h="582930">
                <a:moveTo>
                  <a:pt x="0" y="0"/>
                </a:moveTo>
                <a:lnTo>
                  <a:pt x="1817370" y="0"/>
                </a:lnTo>
                <a:lnTo>
                  <a:pt x="1817370" y="582930"/>
                </a:lnTo>
                <a:lnTo>
                  <a:pt x="0" y="5829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4663440" y="1954530"/>
            <a:ext cx="181737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autofirmado</a:t>
            </a:r>
            <a:endParaRPr lang="en-US" sz="900" dirty="0"/>
          </a:p>
          <a:p>
            <a:pPr algn="ctr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cifrar el tráfico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686550" y="1028700"/>
            <a:ext cx="1954530" cy="1577340"/>
          </a:xfrm>
          <a:custGeom>
            <a:avLst/>
            <a:gdLst/>
            <a:ahLst/>
            <a:cxnLst/>
            <a:rect l="l" t="t" r="r" b="b"/>
            <a:pathLst>
              <a:path w="1954530" h="1577340">
                <a:moveTo>
                  <a:pt x="197167" y="0"/>
                </a:moveTo>
                <a:lnTo>
                  <a:pt x="1757362" y="0"/>
                </a:lnTo>
                <a:quadBezTo>
                  <a:pt x="1954530" y="0"/>
                  <a:pt x="1954530" y="197167"/>
                </a:quadBezTo>
                <a:lnTo>
                  <a:pt x="1954530" y="1380173"/>
                </a:lnTo>
                <a:quadBezTo>
                  <a:pt x="1954530" y="1577340"/>
                  <a:pt x="1757362" y="1577340"/>
                </a:quadBezTo>
                <a:lnTo>
                  <a:pt x="197167" y="1577340"/>
                </a:lnTo>
                <a:quadBezTo>
                  <a:pt x="0" y="1577340"/>
                  <a:pt x="0" y="1380173"/>
                </a:quadBezTo>
                <a:lnTo>
                  <a:pt x="0" y="197167"/>
                </a:lnTo>
                <a:quadBezTo>
                  <a:pt x="0" y="0"/>
                  <a:pt x="197167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2700000">
              <a:srgbClr val="000000">
                <a:alpha val="10196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6686550" y="1028700"/>
            <a:ext cx="1954530" cy="157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7444359" y="1179576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9456" y="0"/>
                </a:moveTo>
                <a:cubicBezTo>
                  <a:pt x="340577" y="0"/>
                  <a:pt x="438912" y="98335"/>
                  <a:pt x="438912" y="219456"/>
                </a:cubicBezTo>
                <a:cubicBezTo>
                  <a:pt x="438912" y="340577"/>
                  <a:pt x="340577" y="438912"/>
                  <a:pt x="219456" y="438912"/>
                </a:cubicBezTo>
                <a:cubicBezTo>
                  <a:pt x="98335" y="438912"/>
                  <a:pt x="0" y="340577"/>
                  <a:pt x="0" y="219456"/>
                </a:cubicBezTo>
                <a:cubicBezTo>
                  <a:pt x="0" y="98335"/>
                  <a:pt x="98335" y="0"/>
                  <a:pt x="219456" y="0"/>
                </a:cubicBezTo>
                <a:close/>
              </a:path>
            </a:pathLst>
          </a:custGeom>
          <a:solidFill>
            <a:srgbClr val="FAECE7"/>
          </a:solidFill>
          <a:ln/>
        </p:spPr>
      </p:sp>
      <p:sp>
        <p:nvSpPr>
          <p:cNvPr id="34" name="Text 29"/>
          <p:cNvSpPr/>
          <p:nvPr/>
        </p:nvSpPr>
        <p:spPr>
          <a:xfrm>
            <a:off x="7444359" y="11795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371" y="1275588"/>
            <a:ext cx="246888" cy="246888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6755130" y="1680210"/>
            <a:ext cx="1817370" cy="274320"/>
          </a:xfrm>
          <a:custGeom>
            <a:avLst/>
            <a:gdLst/>
            <a:ahLst/>
            <a:cxnLst/>
            <a:rect l="l" t="t" r="r" b="b"/>
            <a:pathLst>
              <a:path w="1817370" h="274320">
                <a:moveTo>
                  <a:pt x="0" y="0"/>
                </a:moveTo>
                <a:lnTo>
                  <a:pt x="1817370" y="0"/>
                </a:lnTo>
                <a:lnTo>
                  <a:pt x="181737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6755130" y="1680210"/>
            <a:ext cx="18173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Copias de seguridad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6755130" y="1954530"/>
            <a:ext cx="1817370" cy="582930"/>
          </a:xfrm>
          <a:custGeom>
            <a:avLst/>
            <a:gdLst/>
            <a:ahLst/>
            <a:cxnLst/>
            <a:rect l="l" t="t" r="r" b="b"/>
            <a:pathLst>
              <a:path w="1817370" h="582930">
                <a:moveTo>
                  <a:pt x="0" y="0"/>
                </a:moveTo>
                <a:lnTo>
                  <a:pt x="1817370" y="0"/>
                </a:lnTo>
                <a:lnTo>
                  <a:pt x="1817370" y="582930"/>
                </a:lnTo>
                <a:lnTo>
                  <a:pt x="0" y="5829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6755130" y="1954530"/>
            <a:ext cx="181737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del portal</a:t>
            </a:r>
            <a:endParaRPr lang="en-US" sz="900" dirty="0"/>
          </a:p>
          <a:p>
            <a:pPr algn="ctr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en /backup/</a:t>
            </a:r>
            <a:endParaRPr lang="en-US" sz="9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740" y="2891446"/>
            <a:ext cx="2388344" cy="1648633"/>
          </a:xfrm>
          <a:prstGeom prst="rect">
            <a:avLst/>
          </a:prstGeom>
        </p:spPr>
      </p:pic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5145" y="3251741"/>
            <a:ext cx="2547355" cy="373844"/>
          </a:xfrm>
          <a:prstGeom prst="rect">
            <a:avLst/>
          </a:prstGeom>
        </p:spPr>
      </p:pic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3597" y="3251741"/>
            <a:ext cx="2600325" cy="4143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8610"/>
            <a:ext cx="7543800" cy="480060"/>
          </a:xfrm>
          <a:custGeom>
            <a:avLst/>
            <a:gdLst/>
            <a:ahLst/>
            <a:cxnLst/>
            <a:rect l="l" t="t" r="r" b="b"/>
            <a:pathLst>
              <a:path w="7543800" h="480060">
                <a:moveTo>
                  <a:pt x="0" y="0"/>
                </a:moveTo>
                <a:lnTo>
                  <a:pt x="7543800" y="0"/>
                </a:lnTo>
                <a:lnTo>
                  <a:pt x="7543800" y="480060"/>
                </a:lnTo>
                <a:lnTo>
                  <a:pt x="0" y="4800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08610"/>
            <a:ext cx="7543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22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funcionales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4973" y="1121833"/>
          <a:ext cx="6035040" cy="2544068"/>
        </p:xfrm>
        <a:graphic>
          <a:graphicData uri="http://schemas.openxmlformats.org/drawingml/2006/table">
            <a:tbl>
              <a:tblPr/>
              <a:tblGrid>
                <a:gridCol w="2880360"/>
                <a:gridCol w="3154680"/>
              </a:tblGrid>
              <a:tr h="424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 esperado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8"/>
                    </a:solidFill>
                  </a:tcPr>
                </a:tc>
              </a:tr>
              <a:tr h="424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Conexión SSH con PuTTY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 correcto con usuario no-root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 al portal por HTTP/HTTPS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 del portal sin errores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Permisos de /srv/documentacion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 admin_ti y tecnico acceden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 de firewall (ufw status)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 puertos 22, 80, 443 abiertos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Generación de backup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 .tar.gz creado correctamente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08610"/>
            <a:ext cx="7543800" cy="480060"/>
          </a:xfrm>
          <a:custGeom>
            <a:avLst/>
            <a:gdLst/>
            <a:ahLst/>
            <a:cxnLst/>
            <a:rect l="l" t="t" r="r" b="b"/>
            <a:pathLst>
              <a:path w="7543800" h="480060">
                <a:moveTo>
                  <a:pt x="0" y="0"/>
                </a:moveTo>
                <a:lnTo>
                  <a:pt x="7543800" y="0"/>
                </a:lnTo>
                <a:lnTo>
                  <a:pt x="7543800" y="480060"/>
                </a:lnTo>
                <a:lnTo>
                  <a:pt x="0" y="4800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08610"/>
            <a:ext cx="7543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2250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 y planificación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925830"/>
            <a:ext cx="3909060" cy="2743200"/>
          </a:xfrm>
          <a:custGeom>
            <a:avLst/>
            <a:gdLst/>
            <a:ahLst/>
            <a:cxnLst/>
            <a:rect l="l" t="t" r="r" b="b"/>
            <a:pathLst>
              <a:path w="3909060" h="2743200">
                <a:moveTo>
                  <a:pt x="342900" y="0"/>
                </a:moveTo>
                <a:lnTo>
                  <a:pt x="3566160" y="0"/>
                </a:lnTo>
                <a:quadBezTo>
                  <a:pt x="3909060" y="0"/>
                  <a:pt x="3909060" y="342900"/>
                </a:quadBezTo>
                <a:lnTo>
                  <a:pt x="3909060" y="2400300"/>
                </a:lnTo>
                <a:quadBezTo>
                  <a:pt x="3909060" y="2743200"/>
                  <a:pt x="3566160" y="2743200"/>
                </a:quadBezTo>
                <a:lnTo>
                  <a:pt x="342900" y="2743200"/>
                </a:lnTo>
                <a:quadBezTo>
                  <a:pt x="0" y="2743200"/>
                  <a:pt x="0" y="2400300"/>
                </a:quadBezTo>
                <a:lnTo>
                  <a:pt x="0" y="342900"/>
                </a:lnTo>
                <a:quadBezTo>
                  <a:pt x="0" y="0"/>
                  <a:pt x="34290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27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25830"/>
            <a:ext cx="39090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1097280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28700" y="1097280"/>
            <a:ext cx="3086100" cy="274320"/>
          </a:xfrm>
          <a:custGeom>
            <a:avLst/>
            <a:gdLst/>
            <a:ahLst/>
            <a:cxnLst/>
            <a:rect l="l" t="t" r="r" b="b"/>
            <a:pathLst>
              <a:path w="3086100" h="274320">
                <a:moveTo>
                  <a:pt x="0" y="0"/>
                </a:moveTo>
                <a:lnTo>
                  <a:pt x="3086100" y="0"/>
                </a:lnTo>
                <a:lnTo>
                  <a:pt x="308610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28700" y="1097280"/>
            <a:ext cx="30861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1181" b="1" dirty="0">
                <a:solidFill>
                  <a:srgbClr val="16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 básico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1510" y="1474470"/>
          <a:ext cx="3429000" cy="1309985"/>
        </p:xfrm>
        <a:graphic>
          <a:graphicData uri="http://schemas.openxmlformats.org/drawingml/2006/table">
            <a:tbl>
              <a:tblPr/>
              <a:tblGrid>
                <a:gridCol w="2263140"/>
                <a:gridCol w="1165860"/>
              </a:tblGrid>
              <a:tr h="327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 reutilizado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0 €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 (100% libre)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0 €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 de trabajo (20h x 15€/h)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300 €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 proyecto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u="none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300 €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86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51510" y="2914650"/>
            <a:ext cx="3429000" cy="480060"/>
          </a:xfrm>
          <a:custGeom>
            <a:avLst/>
            <a:gdLst/>
            <a:ahLst/>
            <a:cxnLst/>
            <a:rect l="l" t="t" r="r" b="b"/>
            <a:pathLst>
              <a:path w="3429000" h="480060">
                <a:moveTo>
                  <a:pt x="0" y="0"/>
                </a:moveTo>
                <a:lnTo>
                  <a:pt x="3429000" y="0"/>
                </a:lnTo>
                <a:lnTo>
                  <a:pt x="3429000" y="480060"/>
                </a:lnTo>
                <a:lnTo>
                  <a:pt x="0" y="4800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51510" y="2914650"/>
            <a:ext cx="3429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788" i="1" dirty="0">
                <a:solidFill>
                  <a:srgbClr val="44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mensual estimado: 50 €/mes (soporte, backups y actualizaciones)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526280" y="925830"/>
            <a:ext cx="3977640" cy="2743200"/>
          </a:xfrm>
          <a:custGeom>
            <a:avLst/>
            <a:gdLst/>
            <a:ahLst/>
            <a:cxnLst/>
            <a:rect l="l" t="t" r="r" b="b"/>
            <a:pathLst>
              <a:path w="3977640" h="2743200">
                <a:moveTo>
                  <a:pt x="342900" y="0"/>
                </a:moveTo>
                <a:lnTo>
                  <a:pt x="3634740" y="0"/>
                </a:lnTo>
                <a:quadBezTo>
                  <a:pt x="3977640" y="0"/>
                  <a:pt x="3977640" y="342900"/>
                </a:quadBezTo>
                <a:lnTo>
                  <a:pt x="3977640" y="2400300"/>
                </a:lnTo>
                <a:quadBezTo>
                  <a:pt x="3977640" y="2743200"/>
                  <a:pt x="3634740" y="2743200"/>
                </a:quadBezTo>
                <a:lnTo>
                  <a:pt x="342900" y="2743200"/>
                </a:lnTo>
                <a:quadBezTo>
                  <a:pt x="0" y="2743200"/>
                  <a:pt x="0" y="2400300"/>
                </a:quadBezTo>
                <a:lnTo>
                  <a:pt x="0" y="342900"/>
                </a:lnTo>
                <a:quadBezTo>
                  <a:pt x="0" y="0"/>
                  <a:pt x="342900" y="0"/>
                </a:quadBezTo>
                <a:close/>
              </a:path>
            </a:pathLst>
          </a:custGeom>
          <a:solidFill>
            <a:srgbClr val="0F1F38"/>
          </a:solidFill>
          <a:ln/>
        </p:spPr>
      </p:sp>
      <p:sp>
        <p:nvSpPr>
          <p:cNvPr id="13" name="Text 9"/>
          <p:cNvSpPr/>
          <p:nvPr/>
        </p:nvSpPr>
        <p:spPr>
          <a:xfrm>
            <a:off x="4526280" y="925830"/>
            <a:ext cx="3977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1097280"/>
            <a:ext cx="274320" cy="2743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143500" y="1097280"/>
            <a:ext cx="3223260" cy="274320"/>
          </a:xfrm>
          <a:custGeom>
            <a:avLst/>
            <a:gdLst/>
            <a:ahLst/>
            <a:cxnLst/>
            <a:rect l="l" t="t" r="r" b="b"/>
            <a:pathLst>
              <a:path w="3223260" h="274320">
                <a:moveTo>
                  <a:pt x="0" y="0"/>
                </a:moveTo>
                <a:lnTo>
                  <a:pt x="3223260" y="0"/>
                </a:lnTo>
                <a:lnTo>
                  <a:pt x="322326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5143500" y="1097280"/>
            <a:ext cx="32232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1181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(2 semanas)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766310" y="1577340"/>
            <a:ext cx="3497580" cy="685800"/>
          </a:xfrm>
          <a:custGeom>
            <a:avLst/>
            <a:gdLst/>
            <a:ahLst/>
            <a:cxnLst/>
            <a:rect l="l" t="t" r="r" b="b"/>
            <a:pathLst>
              <a:path w="3497580" h="685800">
                <a:moveTo>
                  <a:pt x="85725" y="0"/>
                </a:moveTo>
                <a:lnTo>
                  <a:pt x="3411855" y="0"/>
                </a:lnTo>
                <a:quadBezTo>
                  <a:pt x="3497580" y="0"/>
                  <a:pt x="3497580" y="85725"/>
                </a:quadBezTo>
                <a:lnTo>
                  <a:pt x="3497580" y="600075"/>
                </a:lnTo>
                <a:quadBezTo>
                  <a:pt x="3497580" y="685800"/>
                  <a:pt x="3411855" y="685800"/>
                </a:quadBezTo>
                <a:lnTo>
                  <a:pt x="85725" y="685800"/>
                </a:lnTo>
                <a:quadBezTo>
                  <a:pt x="0" y="685800"/>
                  <a:pt x="0" y="60007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solidFill>
            <a:srgbClr val="12243F"/>
          </a:solidFill>
          <a:ln/>
        </p:spPr>
      </p:sp>
      <p:sp>
        <p:nvSpPr>
          <p:cNvPr id="18" name="Text 13"/>
          <p:cNvSpPr/>
          <p:nvPr/>
        </p:nvSpPr>
        <p:spPr>
          <a:xfrm>
            <a:off x="4766310" y="1577340"/>
            <a:ext cx="34975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937760" y="1645920"/>
            <a:ext cx="3154680" cy="219456"/>
          </a:xfrm>
          <a:custGeom>
            <a:avLst/>
            <a:gdLst/>
            <a:ahLst/>
            <a:cxnLst/>
            <a:rect l="l" t="t" r="r" b="b"/>
            <a:pathLst>
              <a:path w="3154680" h="219456">
                <a:moveTo>
                  <a:pt x="0" y="0"/>
                </a:moveTo>
                <a:lnTo>
                  <a:pt x="3154680" y="0"/>
                </a:lnTo>
                <a:lnTo>
                  <a:pt x="3154680" y="219456"/>
                </a:lnTo>
                <a:lnTo>
                  <a:pt x="0" y="21945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4937760" y="164592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56" b="1" dirty="0">
                <a:solidFill>
                  <a:srgbClr val="5FB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1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937760" y="1865376"/>
            <a:ext cx="3154680" cy="342900"/>
          </a:xfrm>
          <a:custGeom>
            <a:avLst/>
            <a:gdLst/>
            <a:ahLst/>
            <a:cxnLst/>
            <a:rect l="l" t="t" r="r" b="b"/>
            <a:pathLst>
              <a:path w="3154680" h="342900">
                <a:moveTo>
                  <a:pt x="0" y="0"/>
                </a:moveTo>
                <a:lnTo>
                  <a:pt x="3154680" y="0"/>
                </a:lnTo>
                <a:lnTo>
                  <a:pt x="315468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4937760" y="1865376"/>
            <a:ext cx="31546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Servidor, red, SSH, LAMP y WordPress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66310" y="2400300"/>
            <a:ext cx="3497580" cy="685800"/>
          </a:xfrm>
          <a:custGeom>
            <a:avLst/>
            <a:gdLst/>
            <a:ahLst/>
            <a:cxnLst/>
            <a:rect l="l" t="t" r="r" b="b"/>
            <a:pathLst>
              <a:path w="3497580" h="685800">
                <a:moveTo>
                  <a:pt x="85725" y="0"/>
                </a:moveTo>
                <a:lnTo>
                  <a:pt x="3411855" y="0"/>
                </a:lnTo>
                <a:quadBezTo>
                  <a:pt x="3497580" y="0"/>
                  <a:pt x="3497580" y="85725"/>
                </a:quadBezTo>
                <a:lnTo>
                  <a:pt x="3497580" y="600075"/>
                </a:lnTo>
                <a:quadBezTo>
                  <a:pt x="3497580" y="685800"/>
                  <a:pt x="3411855" y="685800"/>
                </a:quadBezTo>
                <a:lnTo>
                  <a:pt x="85725" y="685800"/>
                </a:lnTo>
                <a:quadBezTo>
                  <a:pt x="0" y="685800"/>
                  <a:pt x="0" y="60007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solidFill>
            <a:srgbClr val="12243F"/>
          </a:solidFill>
          <a:ln/>
        </p:spPr>
      </p:sp>
      <p:sp>
        <p:nvSpPr>
          <p:cNvPr id="24" name="Text 19"/>
          <p:cNvSpPr/>
          <p:nvPr/>
        </p:nvSpPr>
        <p:spPr>
          <a:xfrm>
            <a:off x="4766310" y="2400300"/>
            <a:ext cx="34975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937760" y="2468880"/>
            <a:ext cx="3154680" cy="219456"/>
          </a:xfrm>
          <a:custGeom>
            <a:avLst/>
            <a:gdLst/>
            <a:ahLst/>
            <a:cxnLst/>
            <a:rect l="l" t="t" r="r" b="b"/>
            <a:pathLst>
              <a:path w="3154680" h="219456">
                <a:moveTo>
                  <a:pt x="0" y="0"/>
                </a:moveTo>
                <a:lnTo>
                  <a:pt x="3154680" y="0"/>
                </a:lnTo>
                <a:lnTo>
                  <a:pt x="3154680" y="219456"/>
                </a:lnTo>
                <a:lnTo>
                  <a:pt x="0" y="21945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4937760" y="246888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56" b="1" dirty="0">
                <a:solidFill>
                  <a:srgbClr val="5FB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2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937760" y="2688336"/>
            <a:ext cx="3154680" cy="342900"/>
          </a:xfrm>
          <a:custGeom>
            <a:avLst/>
            <a:gdLst/>
            <a:ahLst/>
            <a:cxnLst/>
            <a:rect l="l" t="t" r="r" b="b"/>
            <a:pathLst>
              <a:path w="3154680" h="342900">
                <a:moveTo>
                  <a:pt x="0" y="0"/>
                </a:moveTo>
                <a:lnTo>
                  <a:pt x="3154680" y="0"/>
                </a:lnTo>
                <a:lnTo>
                  <a:pt x="315468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4937760" y="2688336"/>
            <a:ext cx="31546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Portal, usuarios, seguridad, backups,</a:t>
            </a:r>
            <a:endParaRPr lang="en-US" sz="900" dirty="0"/>
          </a:p>
          <a:p>
            <a:pPr algn="l" indent="0" marL="0">
              <a:spcBef>
                <a:spcPts val="281"/>
              </a:spcBef>
              <a:buNone/>
            </a:pPr>
            <a:r>
              <a:rPr lang="en-US" sz="788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y presentación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52260" y="-1714500"/>
            <a:ext cx="4800600" cy="4800600"/>
          </a:xfrm>
          <a:custGeom>
            <a:avLst/>
            <a:gdLst/>
            <a:ahLst/>
            <a:cxnLst/>
            <a:rect l="l" t="t" r="r" b="b"/>
            <a:pathLst>
              <a:path w="4800600" h="4800600">
                <a:moveTo>
                  <a:pt x="2400300" y="0"/>
                </a:moveTo>
                <a:cubicBezTo>
                  <a:pt x="3725062" y="0"/>
                  <a:pt x="4800600" y="1075538"/>
                  <a:pt x="4800600" y="2400300"/>
                </a:cubicBezTo>
                <a:cubicBezTo>
                  <a:pt x="4800600" y="3725062"/>
                  <a:pt x="3725062" y="4800600"/>
                  <a:pt x="2400300" y="4800600"/>
                </a:cubicBezTo>
                <a:cubicBezTo>
                  <a:pt x="1075538" y="4800600"/>
                  <a:pt x="0" y="3725062"/>
                  <a:pt x="0" y="2400300"/>
                </a:cubicBezTo>
                <a:cubicBezTo>
                  <a:pt x="0" y="1075538"/>
                  <a:pt x="1075538" y="0"/>
                  <a:pt x="2400300" y="0"/>
                </a:cubicBezTo>
                <a:close/>
              </a:path>
            </a:pathLst>
          </a:custGeom>
          <a:solidFill>
            <a:srgbClr val="12243F"/>
          </a:solidFill>
          <a:ln/>
        </p:spPr>
      </p:sp>
      <p:sp>
        <p:nvSpPr>
          <p:cNvPr id="3" name="Text 1"/>
          <p:cNvSpPr/>
          <p:nvPr/>
        </p:nvSpPr>
        <p:spPr>
          <a:xfrm>
            <a:off x="6652260" y="-1714500"/>
            <a:ext cx="480060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81"/>
              </a:spcBef>
              <a:buNone/>
            </a:pP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80060" y="617220"/>
            <a:ext cx="6172200" cy="548640"/>
          </a:xfrm>
          <a:custGeom>
            <a:avLst/>
            <a:gdLst/>
            <a:ahLst/>
            <a:cxnLst/>
            <a:rect l="l" t="t" r="r" b="b"/>
            <a:pathLst>
              <a:path w="6172200" h="548640">
                <a:moveTo>
                  <a:pt x="0" y="0"/>
                </a:moveTo>
                <a:lnTo>
                  <a:pt x="6172200" y="0"/>
                </a:lnTo>
                <a:lnTo>
                  <a:pt x="617220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80060" y="617220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2531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" y="1303020"/>
            <a:ext cx="219456" cy="219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268730"/>
            <a:ext cx="6515100" cy="308610"/>
          </a:xfrm>
          <a:custGeom>
            <a:avLst/>
            <a:gdLst/>
            <a:ahLst/>
            <a:cxnLst/>
            <a:rect l="l" t="t" r="r" b="b"/>
            <a:pathLst>
              <a:path w="6515100" h="308610">
                <a:moveTo>
                  <a:pt x="0" y="0"/>
                </a:moveTo>
                <a:lnTo>
                  <a:pt x="6515100" y="0"/>
                </a:lnTo>
                <a:lnTo>
                  <a:pt x="6515100" y="308610"/>
                </a:lnTo>
                <a:lnTo>
                  <a:pt x="0" y="30861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268730"/>
            <a:ext cx="65151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1069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completa, funcional y verificada de extremo a extremo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1748790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2960" y="1714500"/>
            <a:ext cx="6515100" cy="308610"/>
          </a:xfrm>
          <a:custGeom>
            <a:avLst/>
            <a:gdLst/>
            <a:ahLst/>
            <a:cxnLst/>
            <a:rect l="l" t="t" r="r" b="b"/>
            <a:pathLst>
              <a:path w="6515100" h="308610">
                <a:moveTo>
                  <a:pt x="0" y="0"/>
                </a:moveTo>
                <a:lnTo>
                  <a:pt x="6515100" y="0"/>
                </a:lnTo>
                <a:lnTo>
                  <a:pt x="6515100" y="308610"/>
                </a:lnTo>
                <a:lnTo>
                  <a:pt x="0" y="30861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1714500"/>
            <a:ext cx="65151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1069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básica aplicada: firewall, SSH endurecido, HTTPS y backups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" y="2194560"/>
            <a:ext cx="219456" cy="21945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22960" y="2160270"/>
            <a:ext cx="6515100" cy="308610"/>
          </a:xfrm>
          <a:custGeom>
            <a:avLst/>
            <a:gdLst/>
            <a:ahLst/>
            <a:cxnLst/>
            <a:rect l="l" t="t" r="r" b="b"/>
            <a:pathLst>
              <a:path w="6515100" h="308610">
                <a:moveTo>
                  <a:pt x="0" y="0"/>
                </a:moveTo>
                <a:lnTo>
                  <a:pt x="6515100" y="0"/>
                </a:lnTo>
                <a:lnTo>
                  <a:pt x="6515100" y="308610"/>
                </a:lnTo>
                <a:lnTo>
                  <a:pt x="0" y="30861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822960" y="2160270"/>
            <a:ext cx="65151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1069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completa con evidencias de cada fase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" y="2640330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22960" y="2606040"/>
            <a:ext cx="6515100" cy="308610"/>
          </a:xfrm>
          <a:custGeom>
            <a:avLst/>
            <a:gdLst/>
            <a:ahLst/>
            <a:cxnLst/>
            <a:rect l="l" t="t" r="r" b="b"/>
            <a:pathLst>
              <a:path w="6515100" h="308610">
                <a:moveTo>
                  <a:pt x="0" y="0"/>
                </a:moveTo>
                <a:lnTo>
                  <a:pt x="6515100" y="0"/>
                </a:lnTo>
                <a:lnTo>
                  <a:pt x="6515100" y="308610"/>
                </a:lnTo>
                <a:lnTo>
                  <a:pt x="0" y="30861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822960" y="2606040"/>
            <a:ext cx="65151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1069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viable, de coste cero en software y ejecutable en 2 semanas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480060" y="3257550"/>
            <a:ext cx="2057400" cy="0"/>
          </a:xfrm>
          <a:custGeom>
            <a:avLst/>
            <a:gdLst/>
            <a:ahLst/>
            <a:cxnLst/>
            <a:rect l="l" t="t" r="r" b="b"/>
            <a:pathLst>
              <a:path w="2057400" h="0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/>
          <a:ln w="19074">
            <a:solidFill>
              <a:srgbClr val="1C7293"/>
            </a:solidFill>
            <a:prstDash val="solid"/>
            <a:headEnd type="none"/>
            <a:tailEnd type="none"/>
          </a:ln>
        </p:spPr>
      </p:sp>
      <p:sp>
        <p:nvSpPr>
          <p:cNvPr id="19" name="Shape 13"/>
          <p:cNvSpPr/>
          <p:nvPr/>
        </p:nvSpPr>
        <p:spPr>
          <a:xfrm>
            <a:off x="480060" y="3394710"/>
            <a:ext cx="5486400" cy="342900"/>
          </a:xfrm>
          <a:custGeom>
            <a:avLst/>
            <a:gdLst/>
            <a:ahLst/>
            <a:cxnLst/>
            <a:rect l="l" t="t" r="r" b="b"/>
            <a:pathLst>
              <a:path w="5486400" h="342900">
                <a:moveTo>
                  <a:pt x="0" y="0"/>
                </a:moveTo>
                <a:lnTo>
                  <a:pt x="5486400" y="0"/>
                </a:lnTo>
                <a:lnTo>
                  <a:pt x="548640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480060" y="339471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1350" b="1" dirty="0">
                <a:solidFill>
                  <a:srgbClr val="5FB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atención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2026-06-21T19:44:52Z</dcterms:created>
  <dcterms:modified xsi:type="dcterms:W3CDTF">2026-06-21T19:44:52Z</dcterms:modified>
</cp:coreProperties>
</file>